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1pPr>
    <a:lvl2pPr marL="0" marR="0" indent="45720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2pPr>
    <a:lvl3pPr marL="0" marR="0" indent="91440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3pPr>
    <a:lvl4pPr marL="0" marR="0" indent="137160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4pPr>
    <a:lvl5pPr marL="0" marR="0" indent="182880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5pPr>
    <a:lvl6pPr marL="0" marR="0" indent="228600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6pPr>
    <a:lvl7pPr marL="0" marR="0" indent="274320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7pPr>
    <a:lvl8pPr marL="0" marR="0" indent="320040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8pPr>
    <a:lvl9pPr marL="0" marR="0" indent="365760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8CD"/>
          </a:solidFill>
        </a:fill>
      </a:tcStyle>
    </a:wholeTbl>
    <a:band2H>
      <a:tcTxStyle b="def" i="def"/>
      <a:tcStyle>
        <a:tcBdr/>
        <a:fill>
          <a:solidFill>
            <a:srgbClr val="E6EC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508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AE4CD"/>
          </a:solidFill>
        </a:fill>
      </a:tcStyle>
    </a:wholeTbl>
    <a:band2H>
      <a:tcTxStyle b="def" i="def"/>
      <a:tcStyle>
        <a:tcBdr/>
        <a:fill>
          <a:solidFill>
            <a:srgbClr val="FDF2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508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6F0E2"/>
          </a:solidFill>
        </a:fill>
      </a:tcStyle>
    </a:wholeTbl>
    <a:band2H>
      <a:tcTxStyle b="def" i="def"/>
      <a:tcStyle>
        <a:tcBdr/>
        <a:fill>
          <a:solidFill>
            <a:srgbClr val="F3F7F1"/>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508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635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508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635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9" name="Shape 59"/>
          <p:cNvSpPr/>
          <p:nvPr>
            <p:ph type="sldImg"/>
          </p:nvPr>
        </p:nvSpPr>
        <p:spPr>
          <a:xfrm>
            <a:off x="1143000" y="685800"/>
            <a:ext cx="4572000" cy="3429000"/>
          </a:xfrm>
          <a:prstGeom prst="rect">
            <a:avLst/>
          </a:prstGeom>
        </p:spPr>
        <p:txBody>
          <a:bodyPr/>
          <a:lstStyle/>
          <a:p>
            <a:pPr/>
          </a:p>
        </p:txBody>
      </p:sp>
      <p:sp>
        <p:nvSpPr>
          <p:cNvPr id="60" name="Shape 6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1300480" latinLnBrk="0">
      <a:defRPr sz="1600">
        <a:latin typeface="Calibri"/>
        <a:ea typeface="Calibri"/>
        <a:cs typeface="Calibri"/>
        <a:sym typeface="Calibri"/>
      </a:defRPr>
    </a:lvl1pPr>
    <a:lvl2pPr indent="228600" defTabSz="1300480" latinLnBrk="0">
      <a:defRPr sz="1600">
        <a:latin typeface="Calibri"/>
        <a:ea typeface="Calibri"/>
        <a:cs typeface="Calibri"/>
        <a:sym typeface="Calibri"/>
      </a:defRPr>
    </a:lvl2pPr>
    <a:lvl3pPr indent="457200" defTabSz="1300480" latinLnBrk="0">
      <a:defRPr sz="1600">
        <a:latin typeface="Calibri"/>
        <a:ea typeface="Calibri"/>
        <a:cs typeface="Calibri"/>
        <a:sym typeface="Calibri"/>
      </a:defRPr>
    </a:lvl3pPr>
    <a:lvl4pPr indent="685800" defTabSz="1300480" latinLnBrk="0">
      <a:defRPr sz="1600">
        <a:latin typeface="Calibri"/>
        <a:ea typeface="Calibri"/>
        <a:cs typeface="Calibri"/>
        <a:sym typeface="Calibri"/>
      </a:defRPr>
    </a:lvl4pPr>
    <a:lvl5pPr indent="914400" defTabSz="1300480" latinLnBrk="0">
      <a:defRPr sz="1600">
        <a:latin typeface="Calibri"/>
        <a:ea typeface="Calibri"/>
        <a:cs typeface="Calibri"/>
        <a:sym typeface="Calibri"/>
      </a:defRPr>
    </a:lvl5pPr>
    <a:lvl6pPr indent="1143000" defTabSz="1300480" latinLnBrk="0">
      <a:defRPr sz="1600">
        <a:latin typeface="Calibri"/>
        <a:ea typeface="Calibri"/>
        <a:cs typeface="Calibri"/>
        <a:sym typeface="Calibri"/>
      </a:defRPr>
    </a:lvl6pPr>
    <a:lvl7pPr indent="1371600" defTabSz="1300480" latinLnBrk="0">
      <a:defRPr sz="1600">
        <a:latin typeface="Calibri"/>
        <a:ea typeface="Calibri"/>
        <a:cs typeface="Calibri"/>
        <a:sym typeface="Calibri"/>
      </a:defRPr>
    </a:lvl7pPr>
    <a:lvl8pPr indent="1600200" defTabSz="1300480" latinLnBrk="0">
      <a:defRPr sz="1600">
        <a:latin typeface="Calibri"/>
        <a:ea typeface="Calibri"/>
        <a:cs typeface="Calibri"/>
        <a:sym typeface="Calibri"/>
      </a:defRPr>
    </a:lvl8pPr>
    <a:lvl9pPr indent="1828800" defTabSz="1300480" latinLnBrk="0">
      <a:defRPr sz="1600">
        <a:latin typeface="Calibri"/>
        <a:ea typeface="Calibri"/>
        <a:cs typeface="Calibri"/>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Shape 71"/>
          <p:cNvSpPr/>
          <p:nvPr>
            <p:ph type="sldImg"/>
          </p:nvPr>
        </p:nvSpPr>
        <p:spPr>
          <a:prstGeom prst="rect">
            <a:avLst/>
          </a:prstGeom>
        </p:spPr>
        <p:txBody>
          <a:bodyPr/>
          <a:lstStyle/>
          <a:p>
            <a:pPr/>
          </a:p>
        </p:txBody>
      </p:sp>
      <p:sp>
        <p:nvSpPr>
          <p:cNvPr id="72" name="Shape 72"/>
          <p:cNvSpPr/>
          <p:nvPr>
            <p:ph type="body" sz="quarter" idx="1"/>
          </p:nvPr>
        </p:nvSpPr>
        <p:spPr>
          <a:prstGeom prst="rect">
            <a:avLst/>
          </a:prstGeom>
        </p:spPr>
        <p:txBody>
          <a:bodyPr/>
          <a:lstStyle/>
          <a:p>
            <a:pPr/>
            <a:r>
              <a:t>Siehe auch: https://retractionwatch.com/2015/11/12/psychologist-jens-forster-settles-case-by-agreeing-to-2-retractions/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www.osc.uni-muenchen.de" TargetMode="External"/><Relationship Id="rId5" Type="http://schemas.openxmlformats.org/officeDocument/2006/relationships/hyperlink" Target="https://www.researchtransparency.org" TargetMode="External"/><Relationship Id="rId6" Type="http://schemas.openxmlformats.org/officeDocument/2006/relationships/hyperlink" Target="https://scicomm.xyz/web/@nicebread" TargetMode="External"/><Relationship Id="rId7" Type="http://schemas.openxmlformats.org/officeDocument/2006/relationships/image" Target="../media/image3.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rtseite">
    <p:spTree>
      <p:nvGrpSpPr>
        <p:cNvPr id="1" name=""/>
        <p:cNvGrpSpPr/>
        <p:nvPr/>
      </p:nvGrpSpPr>
      <p:grpSpPr>
        <a:xfrm>
          <a:off x="0" y="0"/>
          <a:ext cx="0" cy="0"/>
          <a:chOff x="0" y="0"/>
          <a:chExt cx="0" cy="0"/>
        </a:xfrm>
      </p:grpSpPr>
      <p:pic>
        <p:nvPicPr>
          <p:cNvPr id="11" name="Bild 8" descr="Bild 8"/>
          <p:cNvPicPr>
            <a:picLocks noChangeAspect="1"/>
          </p:cNvPicPr>
          <p:nvPr/>
        </p:nvPicPr>
        <p:blipFill>
          <a:blip r:embed="rId2">
            <a:extLst/>
          </a:blip>
          <a:stretch>
            <a:fillRect/>
          </a:stretch>
        </p:blipFill>
        <p:spPr>
          <a:xfrm>
            <a:off x="9490405" y="175161"/>
            <a:ext cx="3287713" cy="1490225"/>
          </a:xfrm>
          <a:prstGeom prst="rect">
            <a:avLst/>
          </a:prstGeom>
          <a:ln w="12700">
            <a:miter lim="400000"/>
          </a:ln>
        </p:spPr>
      </p:pic>
      <p:sp>
        <p:nvSpPr>
          <p:cNvPr id="12" name="Title"/>
          <p:cNvSpPr txBox="1"/>
          <p:nvPr>
            <p:ph type="body" sz="quarter" idx="21"/>
          </p:nvPr>
        </p:nvSpPr>
        <p:spPr>
          <a:xfrm>
            <a:off x="1567766" y="3690288"/>
            <a:ext cx="9869268" cy="1031749"/>
          </a:xfrm>
          <a:prstGeom prst="rect">
            <a:avLst/>
          </a:prstGeom>
        </p:spPr>
        <p:txBody>
          <a:bodyPr lIns="65023" tIns="65023" rIns="65023" bIns="65023"/>
          <a:lstStyle>
            <a:lvl1pPr marL="0" indent="0" algn="ctr">
              <a:lnSpc>
                <a:spcPct val="100000"/>
              </a:lnSpc>
              <a:spcBef>
                <a:spcPts val="0"/>
              </a:spcBef>
              <a:buClrTx/>
              <a:buSzTx/>
              <a:buNone/>
              <a:defRPr sz="6200">
                <a:solidFill>
                  <a:srgbClr val="232323"/>
                </a:solidFill>
              </a:defRPr>
            </a:lvl1pPr>
          </a:lstStyle>
          <a:p>
            <a:pPr/>
            <a:r>
              <a:t>Title</a:t>
            </a:r>
          </a:p>
        </p:txBody>
      </p:sp>
      <p:pic>
        <p:nvPicPr>
          <p:cNvPr id="13" name="LMU3.png" descr="LMU3.png"/>
          <p:cNvPicPr>
            <a:picLocks noChangeAspect="1"/>
          </p:cNvPicPr>
          <p:nvPr/>
        </p:nvPicPr>
        <p:blipFill>
          <a:blip r:embed="rId3">
            <a:alphaModFix amt="57000"/>
            <a:extLst/>
          </a:blip>
          <a:srcRect l="0" t="0" r="73248" b="0"/>
          <a:stretch>
            <a:fillRect/>
          </a:stretch>
        </p:blipFill>
        <p:spPr>
          <a:xfrm>
            <a:off x="354557" y="323088"/>
            <a:ext cx="3287590" cy="1578865"/>
          </a:xfrm>
          <a:prstGeom prst="rect">
            <a:avLst/>
          </a:prstGeom>
          <a:ln w="12700">
            <a:miter lim="400000"/>
          </a:ln>
          <a:effectLst>
            <a:outerShdw sx="100000" sy="100000" kx="0" ky="0" algn="b" rotWithShape="0" blurRad="12700" dist="25400" dir="2700000">
              <a:srgbClr val="FFFFFF">
                <a:alpha val="86000"/>
              </a:srgbClr>
            </a:outerShdw>
            <a:reflection blurRad="0" stA="14661" stPos="0" endA="0" endPos="40000" dist="0" dir="5400000" fadeDir="5400000" sx="100000" sy="-100000" kx="0" ky="0" algn="bl" rotWithShape="0"/>
          </a:effectLst>
        </p:spPr>
      </p:pic>
      <p:sp>
        <p:nvSpPr>
          <p:cNvPr id="14" name="Subtitle"/>
          <p:cNvSpPr txBox="1"/>
          <p:nvPr>
            <p:ph type="body" sz="quarter" idx="22"/>
          </p:nvPr>
        </p:nvSpPr>
        <p:spPr>
          <a:xfrm>
            <a:off x="2653638" y="4924095"/>
            <a:ext cx="7697523" cy="663449"/>
          </a:xfrm>
          <a:prstGeom prst="rect">
            <a:avLst/>
          </a:prstGeom>
        </p:spPr>
        <p:txBody>
          <a:bodyPr lIns="65023" tIns="65023" rIns="65023" bIns="65023"/>
          <a:lstStyle>
            <a:lvl1pPr marL="0" indent="0" algn="ctr">
              <a:lnSpc>
                <a:spcPct val="100000"/>
              </a:lnSpc>
              <a:spcBef>
                <a:spcPts val="0"/>
              </a:spcBef>
              <a:buClrTx/>
              <a:buSzTx/>
              <a:buNone/>
              <a:defRPr sz="3700">
                <a:solidFill>
                  <a:schemeClr val="accent4">
                    <a:lumOff val="-9372"/>
                  </a:schemeClr>
                </a:solidFill>
              </a:defRPr>
            </a:lvl1pPr>
          </a:lstStyle>
          <a:p>
            <a:pPr/>
            <a:r>
              <a:t>Subtitle</a:t>
            </a:r>
          </a:p>
        </p:txBody>
      </p:sp>
      <p:sp>
        <p:nvSpPr>
          <p:cNvPr id="15" name="Linien"/>
          <p:cNvSpPr/>
          <p:nvPr/>
        </p:nvSpPr>
        <p:spPr>
          <a:xfrm>
            <a:off x="-10778" y="8291178"/>
            <a:ext cx="13026355" cy="1"/>
          </a:xfrm>
          <a:prstGeom prst="line">
            <a:avLst/>
          </a:prstGeom>
          <a:ln w="12700">
            <a:solidFill>
              <a:srgbClr val="DDDDDD"/>
            </a:solidFill>
            <a:miter lim="400000"/>
          </a:ln>
        </p:spPr>
        <p:txBody>
          <a:bodyPr lIns="65023" tIns="65023" rIns="65023" bIns="65023"/>
          <a:lstStyle/>
          <a:p>
            <a:pPr/>
          </a:p>
        </p:txBody>
      </p:sp>
      <p:pic>
        <p:nvPicPr>
          <p:cNvPr id="16" name="Bild 8" descr="Bild 8"/>
          <p:cNvPicPr>
            <a:picLocks noChangeAspect="1"/>
          </p:cNvPicPr>
          <p:nvPr/>
        </p:nvPicPr>
        <p:blipFill>
          <a:blip r:embed="rId2">
            <a:extLst/>
          </a:blip>
          <a:stretch>
            <a:fillRect/>
          </a:stretch>
        </p:blipFill>
        <p:spPr>
          <a:xfrm>
            <a:off x="5298685" y="8410494"/>
            <a:ext cx="2407430" cy="1091219"/>
          </a:xfrm>
          <a:prstGeom prst="rect">
            <a:avLst/>
          </a:prstGeom>
          <a:ln w="12700">
            <a:miter lim="400000"/>
          </a:ln>
        </p:spPr>
      </p:pic>
      <p:sp>
        <p:nvSpPr>
          <p:cNvPr id="17" name="Prof. Dr. Felix Schönbrodt…"/>
          <p:cNvSpPr txBox="1"/>
          <p:nvPr/>
        </p:nvSpPr>
        <p:spPr>
          <a:xfrm>
            <a:off x="180965" y="8515213"/>
            <a:ext cx="4396231" cy="1091219"/>
          </a:xfrm>
          <a:prstGeom prst="rect">
            <a:avLst/>
          </a:prstGeom>
          <a:ln w="12700">
            <a:miter lim="400000"/>
          </a:ln>
          <a:extLst>
            <a:ext uri="{C572A759-6A51-4108-AA02-DFA0A04FC94B}">
              <ma14:wrappingTextBoxFlag xmlns:ma14="http://schemas.microsoft.com/office/mac/drawingml/2011/main" val="1"/>
            </a:ext>
          </a:extLst>
        </p:spPr>
        <p:txBody>
          <a:bodyPr lIns="69358" tIns="69358" rIns="69358" bIns="69358" anchor="ctr">
            <a:spAutoFit/>
          </a:bodyPr>
          <a:lstStyle/>
          <a:p>
            <a:pPr defTabSz="650240">
              <a:defRPr sz="2200">
                <a:latin typeface="Gill Sans"/>
                <a:ea typeface="Gill Sans"/>
                <a:cs typeface="Gill Sans"/>
                <a:sym typeface="Gill Sans"/>
              </a:defRPr>
            </a:pPr>
            <a:r>
              <a:t>Prof. Dr. Felix Schönbrodt</a:t>
            </a:r>
          </a:p>
          <a:p>
            <a:pPr defTabSz="650240">
              <a:defRPr sz="2200">
                <a:latin typeface="+mn-lt"/>
                <a:ea typeface="+mn-ea"/>
                <a:cs typeface="+mn-cs"/>
                <a:sym typeface="Gill Sans Light"/>
              </a:defRPr>
            </a:pPr>
            <a:r>
              <a:t>Ludwig-Maximilians-Universität München</a:t>
            </a:r>
          </a:p>
        </p:txBody>
      </p:sp>
      <p:sp>
        <p:nvSpPr>
          <p:cNvPr id="18" name="www.osc.uni-muenchen.de…"/>
          <p:cNvSpPr txBox="1"/>
          <p:nvPr/>
        </p:nvSpPr>
        <p:spPr>
          <a:xfrm>
            <a:off x="9382809" y="8512323"/>
            <a:ext cx="3502905" cy="1096999"/>
          </a:xfrm>
          <a:prstGeom prst="rect">
            <a:avLst/>
          </a:prstGeom>
          <a:ln w="12700">
            <a:miter lim="400000"/>
          </a:ln>
          <a:extLst>
            <a:ext uri="{C572A759-6A51-4108-AA02-DFA0A04FC94B}">
              <ma14:wrappingTextBoxFlag xmlns:ma14="http://schemas.microsoft.com/office/mac/drawingml/2011/main" val="1"/>
            </a:ext>
          </a:extLst>
        </p:spPr>
        <p:txBody>
          <a:bodyPr wrap="none" lIns="72248" tIns="72248" rIns="72248" bIns="72248" anchor="ctr">
            <a:spAutoFit/>
          </a:bodyPr>
          <a:lstStyle/>
          <a:p>
            <a:pPr algn="r" defTabSz="650240">
              <a:defRPr sz="2200">
                <a:solidFill>
                  <a:srgbClr val="606060"/>
                </a:solidFill>
                <a:latin typeface="+mn-lt"/>
                <a:ea typeface="+mn-ea"/>
                <a:cs typeface="+mn-cs"/>
                <a:sym typeface="Gill Sans Light"/>
              </a:defRPr>
            </a:pPr>
            <a:r>
              <a:rPr u="sng">
                <a:hlinkClick r:id="rId4" invalidUrl="" action="" tgtFrame="" tooltip="" history="1" highlightClick="0" endSnd="0"/>
              </a:rPr>
              <a:t>www.osc.uni-muenchen.de</a:t>
            </a:r>
          </a:p>
          <a:p>
            <a:pPr algn="r" defTabSz="650240">
              <a:defRPr sz="2200">
                <a:solidFill>
                  <a:srgbClr val="606060"/>
                </a:solidFill>
                <a:latin typeface="+mn-lt"/>
                <a:ea typeface="+mn-ea"/>
                <a:cs typeface="+mn-cs"/>
                <a:sym typeface="Gill Sans Light"/>
              </a:defRPr>
            </a:pPr>
            <a:r>
              <a:rPr>
                <a:hlinkClick r:id="rId5" invalidUrl="" action="" tgtFrame="" tooltip="" history="1" highlightClick="0" endSnd="0"/>
              </a:rPr>
              <a:t>www.researchtransparency.org</a:t>
            </a:r>
          </a:p>
          <a:p>
            <a:pPr algn="r" defTabSz="650240">
              <a:defRPr sz="2200">
                <a:solidFill>
                  <a:srgbClr val="606060"/>
                </a:solidFill>
                <a:latin typeface="+mn-lt"/>
                <a:ea typeface="+mn-ea"/>
                <a:cs typeface="+mn-cs"/>
                <a:sym typeface="Gill Sans Light"/>
              </a:defRPr>
            </a:pPr>
            <a:r>
              <a:rPr u="sng">
                <a:solidFill>
                  <a:srgbClr val="1016F4"/>
                </a:solidFill>
                <a:hlinkClick r:id="rId6" invalidUrl="" action="" tgtFrame="" tooltip="" history="1" highlightClick="0" endSnd="0"/>
              </a:rPr>
              <a:t>@nicebread@scicomm.xyz</a:t>
            </a:r>
          </a:p>
        </p:txBody>
      </p:sp>
      <p:pic>
        <p:nvPicPr>
          <p:cNvPr id="19" name="Mastodon_Logotype_(Simple).svg.png" descr="Mastodon_Logotype_(Simple).svg.png"/>
          <p:cNvPicPr>
            <a:picLocks noChangeAspect="1"/>
          </p:cNvPicPr>
          <p:nvPr/>
        </p:nvPicPr>
        <p:blipFill>
          <a:blip r:embed="rId7">
            <a:extLst/>
          </a:blip>
          <a:stretch>
            <a:fillRect/>
          </a:stretch>
        </p:blipFill>
        <p:spPr>
          <a:xfrm>
            <a:off x="9506874" y="9213264"/>
            <a:ext cx="351896" cy="377994"/>
          </a:xfrm>
          <a:prstGeom prst="rect">
            <a:avLst/>
          </a:prstGeom>
          <a:ln w="12700">
            <a:miter lim="400000"/>
          </a:ln>
        </p:spPr>
      </p:pic>
      <p:sp>
        <p:nvSpPr>
          <p:cNvPr id="20" name="Foliennummer"/>
          <p:cNvSpPr txBox="1"/>
          <p:nvPr>
            <p:ph type="sldNum" sz="quarter" idx="2"/>
          </p:nvPr>
        </p:nvSpPr>
        <p:spPr>
          <a:xfrm>
            <a:off x="12462933" y="9238826"/>
            <a:ext cx="396953" cy="396749"/>
          </a:xfrm>
          <a:prstGeom prst="rect">
            <a:avLst/>
          </a:prstGeom>
        </p:spPr>
        <p:txBody>
          <a:bodyPr/>
          <a:lstStyle>
            <a:lvl1pPr algn="l" defTabSz="1300480">
              <a:defRPr sz="1800">
                <a:solidFill>
                  <a:srgbClr val="000000"/>
                </a:solidFill>
                <a:latin typeface="LMU CompatilFact"/>
                <a:ea typeface="LMU CompatilFact"/>
                <a:cs typeface="LMU CompatilFact"/>
                <a:sym typeface="LMU CompatilFac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und Inhalt">
    <p:spTree>
      <p:nvGrpSpPr>
        <p:cNvPr id="1" name=""/>
        <p:cNvGrpSpPr/>
        <p:nvPr/>
      </p:nvGrpSpPr>
      <p:grpSpPr>
        <a:xfrm>
          <a:off x="0" y="0"/>
          <a:ext cx="0" cy="0"/>
          <a:chOff x="0" y="0"/>
          <a:chExt cx="0" cy="0"/>
        </a:xfrm>
      </p:grpSpPr>
      <p:pic>
        <p:nvPicPr>
          <p:cNvPr id="27" name="Bild 8" descr="Bild 8"/>
          <p:cNvPicPr>
            <a:picLocks noChangeAspect="1"/>
          </p:cNvPicPr>
          <p:nvPr/>
        </p:nvPicPr>
        <p:blipFill>
          <a:blip r:embed="rId2">
            <a:extLst/>
          </a:blip>
          <a:stretch>
            <a:fillRect/>
          </a:stretch>
        </p:blipFill>
        <p:spPr>
          <a:xfrm>
            <a:off x="9924893" y="60861"/>
            <a:ext cx="2944372" cy="1334598"/>
          </a:xfrm>
          <a:prstGeom prst="rect">
            <a:avLst/>
          </a:prstGeom>
          <a:ln w="12700">
            <a:miter lim="400000"/>
          </a:ln>
        </p:spPr>
      </p:pic>
      <p:sp>
        <p:nvSpPr>
          <p:cNvPr id="28" name="Titeltext"/>
          <p:cNvSpPr txBox="1"/>
          <p:nvPr>
            <p:ph type="title"/>
          </p:nvPr>
        </p:nvSpPr>
        <p:spPr>
          <a:xfrm>
            <a:off x="379306" y="147054"/>
            <a:ext cx="8246792" cy="1162212"/>
          </a:xfrm>
          <a:prstGeom prst="rect">
            <a:avLst/>
          </a:prstGeom>
        </p:spPr>
        <p:txBody>
          <a:bodyPr lIns="65023" tIns="65023" rIns="65023" bIns="65023">
            <a:normAutofit fontScale="100000" lnSpcReduction="0"/>
          </a:bodyPr>
          <a:lstStyle>
            <a:lvl1pPr algn="l" defTabSz="650240">
              <a:defRPr b="1" cap="none" sz="5900">
                <a:solidFill>
                  <a:srgbClr val="000000"/>
                </a:solidFill>
                <a:latin typeface="LMU CompatilFact"/>
                <a:ea typeface="LMU CompatilFact"/>
                <a:cs typeface="LMU CompatilFact"/>
                <a:sym typeface="LMU CompatilFact"/>
              </a:defRPr>
            </a:lvl1pPr>
          </a:lstStyle>
          <a:p>
            <a:pPr/>
            <a:r>
              <a:t>Titeltext</a:t>
            </a:r>
          </a:p>
        </p:txBody>
      </p:sp>
      <p:sp>
        <p:nvSpPr>
          <p:cNvPr id="29" name="Textebene 1…"/>
          <p:cNvSpPr txBox="1"/>
          <p:nvPr>
            <p:ph type="body" idx="1"/>
          </p:nvPr>
        </p:nvSpPr>
        <p:spPr>
          <a:xfrm>
            <a:off x="344169" y="1794030"/>
            <a:ext cx="12161592" cy="7203075"/>
          </a:xfrm>
          <a:prstGeom prst="rect">
            <a:avLst/>
          </a:prstGeom>
        </p:spPr>
        <p:txBody>
          <a:bodyPr lIns="65023" tIns="65023" rIns="65023" bIns="65023" anchor="t">
            <a:normAutofit fontScale="100000" lnSpcReduction="0"/>
          </a:bodyPr>
          <a:lstStyle>
            <a:lvl1pPr marL="474784" indent="-474784" defTabSz="650240">
              <a:lnSpc>
                <a:spcPct val="100000"/>
              </a:lnSpc>
              <a:spcBef>
                <a:spcPts val="800"/>
              </a:spcBef>
              <a:buClrTx/>
              <a:buSzPct val="100000"/>
              <a:buFont typeface="Arial"/>
              <a:defRPr sz="3600">
                <a:solidFill>
                  <a:srgbClr val="000000"/>
                </a:solidFill>
                <a:latin typeface="LMU CompatilFact"/>
                <a:ea typeface="LMU CompatilFact"/>
                <a:cs typeface="LMU CompatilFact"/>
                <a:sym typeface="LMU CompatilFact"/>
              </a:defRPr>
            </a:lvl1pPr>
            <a:lvl2pPr marL="924790" indent="-467590" defTabSz="650240">
              <a:lnSpc>
                <a:spcPct val="100000"/>
              </a:lnSpc>
              <a:spcBef>
                <a:spcPts val="800"/>
              </a:spcBef>
              <a:buClrTx/>
              <a:buSzPct val="100000"/>
              <a:buFont typeface="Arial"/>
              <a:buChar char="–"/>
              <a:defRPr sz="3000">
                <a:solidFill>
                  <a:srgbClr val="000000"/>
                </a:solidFill>
                <a:latin typeface="LMU CompatilFact"/>
                <a:ea typeface="LMU CompatilFact"/>
                <a:cs typeface="LMU CompatilFact"/>
                <a:sym typeface="LMU CompatilFact"/>
              </a:defRPr>
            </a:lvl2pPr>
            <a:lvl3pPr marL="1331494" indent="-417094" defTabSz="650240">
              <a:lnSpc>
                <a:spcPct val="100000"/>
              </a:lnSpc>
              <a:spcBef>
                <a:spcPts val="800"/>
              </a:spcBef>
              <a:buClrTx/>
              <a:buSzPct val="100000"/>
              <a:buFont typeface="Arial"/>
              <a:defRPr sz="2600">
                <a:solidFill>
                  <a:srgbClr val="000000"/>
                </a:solidFill>
                <a:latin typeface="LMU CompatilFact"/>
                <a:ea typeface="LMU CompatilFact"/>
                <a:cs typeface="LMU CompatilFact"/>
                <a:sym typeface="LMU CompatilFact"/>
              </a:defRPr>
            </a:lvl3pPr>
            <a:lvl4pPr marL="1857375" indent="-485775" defTabSz="650240">
              <a:lnSpc>
                <a:spcPct val="100000"/>
              </a:lnSpc>
              <a:spcBef>
                <a:spcPts val="800"/>
              </a:spcBef>
              <a:buClrTx/>
              <a:buSzPct val="100000"/>
              <a:buFont typeface="Arial"/>
              <a:buChar char="–"/>
              <a:defRPr sz="3400">
                <a:solidFill>
                  <a:srgbClr val="000000"/>
                </a:solidFill>
                <a:latin typeface="LMU CompatilFact"/>
                <a:ea typeface="LMU CompatilFact"/>
                <a:cs typeface="LMU CompatilFact"/>
                <a:sym typeface="LMU CompatilFact"/>
              </a:defRPr>
            </a:lvl4pPr>
            <a:lvl5pPr marL="2314575" indent="-485775" defTabSz="650240">
              <a:lnSpc>
                <a:spcPct val="100000"/>
              </a:lnSpc>
              <a:spcBef>
                <a:spcPts val="800"/>
              </a:spcBef>
              <a:buClrTx/>
              <a:buSzPct val="100000"/>
              <a:buFont typeface="Arial"/>
              <a:buChar char="»"/>
              <a:defRPr sz="3400">
                <a:solidFill>
                  <a:srgbClr val="000000"/>
                </a:solidFill>
                <a:latin typeface="LMU CompatilFact"/>
                <a:ea typeface="LMU CompatilFact"/>
                <a:cs typeface="LMU CompatilFact"/>
                <a:sym typeface="LMU CompatilFact"/>
              </a:defRPr>
            </a:lvl5pPr>
          </a:lstStyle>
          <a:p>
            <a:pPr/>
            <a:r>
              <a:t>Textebene 1</a:t>
            </a:r>
          </a:p>
          <a:p>
            <a:pPr lvl="1"/>
            <a:r>
              <a:t>Textebene 2</a:t>
            </a:r>
          </a:p>
          <a:p>
            <a:pPr lvl="2"/>
            <a:r>
              <a:t>Textebene 3</a:t>
            </a:r>
          </a:p>
          <a:p>
            <a:pPr lvl="3"/>
            <a:r>
              <a:t>Textebene 4</a:t>
            </a:r>
          </a:p>
          <a:p>
            <a:pPr lvl="4"/>
            <a:r>
              <a:t>Textebene 5</a:t>
            </a:r>
          </a:p>
        </p:txBody>
      </p:sp>
      <p:sp>
        <p:nvSpPr>
          <p:cNvPr id="30" name="Foliennummer"/>
          <p:cNvSpPr txBox="1"/>
          <p:nvPr>
            <p:ph type="sldNum" sz="quarter" idx="2"/>
          </p:nvPr>
        </p:nvSpPr>
        <p:spPr>
          <a:xfrm>
            <a:off x="12289959" y="9238826"/>
            <a:ext cx="345949" cy="358649"/>
          </a:xfrm>
          <a:prstGeom prst="rect">
            <a:avLst/>
          </a:prstGeom>
        </p:spPr>
        <p:txBody>
          <a:bodyPr/>
          <a:lstStyle>
            <a:lvl1pPr>
              <a:defRPr sz="16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und Inhalt Kopie">
    <p:spTree>
      <p:nvGrpSpPr>
        <p:cNvPr id="1" name=""/>
        <p:cNvGrpSpPr/>
        <p:nvPr/>
      </p:nvGrpSpPr>
      <p:grpSpPr>
        <a:xfrm>
          <a:off x="0" y="0"/>
          <a:ext cx="0" cy="0"/>
          <a:chOff x="0" y="0"/>
          <a:chExt cx="0" cy="0"/>
        </a:xfrm>
      </p:grpSpPr>
      <p:pic>
        <p:nvPicPr>
          <p:cNvPr id="37" name="Bild 8" descr="Bild 8"/>
          <p:cNvPicPr>
            <a:picLocks noChangeAspect="1"/>
          </p:cNvPicPr>
          <p:nvPr/>
        </p:nvPicPr>
        <p:blipFill>
          <a:blip r:embed="rId2">
            <a:extLst/>
          </a:blip>
          <a:stretch>
            <a:fillRect/>
          </a:stretch>
        </p:blipFill>
        <p:spPr>
          <a:xfrm>
            <a:off x="9924893" y="60861"/>
            <a:ext cx="2944372" cy="1334598"/>
          </a:xfrm>
          <a:prstGeom prst="rect">
            <a:avLst/>
          </a:prstGeom>
          <a:ln w="12700">
            <a:miter lim="400000"/>
          </a:ln>
        </p:spPr>
      </p:pic>
      <p:sp>
        <p:nvSpPr>
          <p:cNvPr id="38" name="Titeltext"/>
          <p:cNvSpPr txBox="1"/>
          <p:nvPr>
            <p:ph type="title"/>
          </p:nvPr>
        </p:nvSpPr>
        <p:spPr>
          <a:xfrm>
            <a:off x="2474806" y="4295694"/>
            <a:ext cx="8246792" cy="1162212"/>
          </a:xfrm>
          <a:prstGeom prst="rect">
            <a:avLst/>
          </a:prstGeom>
        </p:spPr>
        <p:txBody>
          <a:bodyPr lIns="65023" tIns="65023" rIns="65023" bIns="65023">
            <a:normAutofit fontScale="100000" lnSpcReduction="0"/>
          </a:bodyPr>
          <a:lstStyle>
            <a:lvl1pPr algn="l" defTabSz="650240">
              <a:defRPr b="1" cap="none" sz="5600">
                <a:solidFill>
                  <a:srgbClr val="000000"/>
                </a:solidFill>
                <a:latin typeface="LMU CompatilFact"/>
                <a:ea typeface="LMU CompatilFact"/>
                <a:cs typeface="LMU CompatilFact"/>
                <a:sym typeface="LMU CompatilFact"/>
              </a:defRPr>
            </a:lvl1pPr>
          </a:lstStyle>
          <a:p>
            <a:pPr/>
            <a:r>
              <a:t>Titeltext</a:t>
            </a:r>
          </a:p>
        </p:txBody>
      </p:sp>
      <p:sp>
        <p:nvSpPr>
          <p:cNvPr id="39" name="Foliennummer"/>
          <p:cNvSpPr txBox="1"/>
          <p:nvPr>
            <p:ph type="sldNum" sz="quarter" idx="2"/>
          </p:nvPr>
        </p:nvSpPr>
        <p:spPr>
          <a:xfrm>
            <a:off x="12289959" y="9238826"/>
            <a:ext cx="345949" cy="358649"/>
          </a:xfrm>
          <a:prstGeom prst="rect">
            <a:avLst/>
          </a:prstGeom>
        </p:spPr>
        <p:txBody>
          <a:bodyPr/>
          <a:lstStyle>
            <a:lvl1pPr>
              <a:defRPr sz="16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r">
    <p:spTree>
      <p:nvGrpSpPr>
        <p:cNvPr id="1" name=""/>
        <p:cNvGrpSpPr/>
        <p:nvPr/>
      </p:nvGrpSpPr>
      <p:grpSpPr>
        <a:xfrm>
          <a:off x="0" y="0"/>
          <a:ext cx="0" cy="0"/>
          <a:chOff x="0" y="0"/>
          <a:chExt cx="0" cy="0"/>
        </a:xfrm>
      </p:grpSpPr>
      <p:sp>
        <p:nvSpPr>
          <p:cNvPr id="46" name="Folien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r">
    <p:spTree>
      <p:nvGrpSpPr>
        <p:cNvPr id="1" name=""/>
        <p:cNvGrpSpPr/>
        <p:nvPr/>
      </p:nvGrpSpPr>
      <p:grpSpPr>
        <a:xfrm>
          <a:off x="0" y="0"/>
          <a:ext cx="0" cy="0"/>
          <a:chOff x="0" y="0"/>
          <a:chExt cx="0" cy="0"/>
        </a:xfrm>
      </p:grpSpPr>
      <p:sp>
        <p:nvSpPr>
          <p:cNvPr id="53" name="Foliennummer"/>
          <p:cNvSpPr txBox="1"/>
          <p:nvPr>
            <p:ph type="sldNum" sz="quarter" idx="2"/>
          </p:nvPr>
        </p:nvSpPr>
        <p:spPr>
          <a:xfrm>
            <a:off x="12466066" y="9249664"/>
            <a:ext cx="345949" cy="358649"/>
          </a:xfrm>
          <a:prstGeom prst="rect">
            <a:avLst/>
          </a:prstGeom>
        </p:spPr>
        <p:txBody>
          <a:bodyPr/>
          <a:lstStyle>
            <a:lvl1pPr>
              <a:defRPr sz="1600"/>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Foliennummer"/>
          <p:cNvSpPr txBox="1"/>
          <p:nvPr>
            <p:ph type="sldNum" sz="quarter" idx="2"/>
          </p:nvPr>
        </p:nvSpPr>
        <p:spPr>
          <a:xfrm>
            <a:off x="12478766" y="9249663"/>
            <a:ext cx="320549" cy="333249"/>
          </a:xfrm>
          <a:prstGeom prst="rect">
            <a:avLst/>
          </a:prstGeom>
          <a:ln w="12700">
            <a:miter lim="400000"/>
          </a:ln>
        </p:spPr>
        <p:txBody>
          <a:bodyPr wrap="none" lIns="65023" tIns="65023" rIns="65023" bIns="65023">
            <a:spAutoFit/>
          </a:bodyPr>
          <a:lstStyle>
            <a:lvl1pPr algn="ctr" defTabSz="457200">
              <a:defRPr sz="1400">
                <a:solidFill>
                  <a:srgbClr val="535353"/>
                </a:solidFill>
                <a:latin typeface="+mn-lt"/>
                <a:ea typeface="+mn-ea"/>
                <a:cs typeface="+mn-cs"/>
                <a:sym typeface="Gill Sans Light"/>
              </a:defRPr>
            </a:lvl1pPr>
          </a:lstStyle>
          <a:p>
            <a:pPr/>
            <a:fld id="{86CB4B4D-7CA3-9044-876B-883B54F8677D}" type="slidenum"/>
          </a:p>
        </p:txBody>
      </p:sp>
      <p:sp>
        <p:nvSpPr>
          <p:cNvPr id="3" name="Titeltext"/>
          <p:cNvSpPr txBox="1"/>
          <p:nvPr>
            <p:ph type="title"/>
          </p:nvPr>
        </p:nvSpPr>
        <p:spPr>
          <a:xfrm>
            <a:off x="357631" y="260095"/>
            <a:ext cx="12289538" cy="2438401"/>
          </a:xfrm>
          <a:prstGeom prst="rect">
            <a:avLst/>
          </a:prstGeom>
          <a:ln w="12700">
            <a:miter lim="400000"/>
          </a:ln>
          <a:extLst>
            <a:ext uri="{C572A759-6A51-4108-AA02-DFA0A04FC94B}">
              <ma14:wrappingTextBoxFlag xmlns:ma14="http://schemas.microsoft.com/office/mac/drawingml/2011/main" val="1"/>
            </a:ext>
          </a:extLst>
        </p:spPr>
        <p:txBody>
          <a:bodyPr lIns="48768" tIns="48768" rIns="48768" bIns="48768" anchor="ctr"/>
          <a:lstStyle/>
          <a:p>
            <a:pPr/>
            <a:r>
              <a:t>Titeltext</a:t>
            </a:r>
          </a:p>
        </p:txBody>
      </p:sp>
      <p:sp>
        <p:nvSpPr>
          <p:cNvPr id="4" name="Textebene 1…"/>
          <p:cNvSpPr txBox="1"/>
          <p:nvPr>
            <p:ph type="body" idx="1"/>
          </p:nvPr>
        </p:nvSpPr>
        <p:spPr>
          <a:xfrm>
            <a:off x="357631" y="260095"/>
            <a:ext cx="12289538" cy="9233409"/>
          </a:xfrm>
          <a:prstGeom prst="rect">
            <a:avLst/>
          </a:prstGeom>
          <a:ln w="12700">
            <a:miter lim="400000"/>
          </a:ln>
          <a:extLst>
            <a:ext uri="{C572A759-6A51-4108-AA02-DFA0A04FC94B}">
              <ma14:wrappingTextBoxFlag xmlns:ma14="http://schemas.microsoft.com/office/mac/drawingml/2011/main" val="1"/>
            </a:ext>
          </a:extLst>
        </p:spPr>
        <p:txBody>
          <a:bodyPr lIns="48768" tIns="48768" rIns="48768" bIns="48768" anchor="ctr"/>
          <a:lstStyle/>
          <a:p>
            <a:pPr/>
            <a:r>
              <a:t>Textebene 1</a:t>
            </a:r>
          </a:p>
          <a:p>
            <a:pPr lvl="1"/>
            <a:r>
              <a:t>Textebene 2</a:t>
            </a:r>
          </a:p>
          <a:p>
            <a:pPr lvl="2"/>
            <a:r>
              <a:t>Textebene 3</a:t>
            </a:r>
          </a:p>
          <a:p>
            <a:pPr lvl="3"/>
            <a:r>
              <a:t>Textebene 4</a:t>
            </a:r>
          </a:p>
          <a:p>
            <a:pPr lvl="4"/>
            <a:r>
              <a:t>Textebene 5</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transition xmlns:p14="http://schemas.microsoft.com/office/powerpoint/2010/main" spd="med" advClick="1"/>
  <p:txStyles>
    <p:titleStyle>
      <a:lvl1pPr marL="0" marR="0" indent="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1pPr>
      <a:lvl2pPr marL="0" marR="0" indent="22860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2pPr>
      <a:lvl3pPr marL="0" marR="0" indent="45720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3pPr>
      <a:lvl4pPr marL="0" marR="0" indent="68580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4pPr>
      <a:lvl5pPr marL="0" marR="0" indent="91440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5pPr>
      <a:lvl6pPr marL="0" marR="0" indent="114300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6pPr>
      <a:lvl7pPr marL="0" marR="0" indent="137160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7pPr>
      <a:lvl8pPr marL="0" marR="0" indent="160020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8pPr>
      <a:lvl9pPr marL="0" marR="0" indent="1828800" algn="ctr" defTabSz="457200" latinLnBrk="0">
        <a:lnSpc>
          <a:spcPct val="100000"/>
        </a:lnSpc>
        <a:spcBef>
          <a:spcPts val="0"/>
        </a:spcBef>
        <a:spcAft>
          <a:spcPts val="0"/>
        </a:spcAft>
        <a:buClrTx/>
        <a:buSzTx/>
        <a:buFontTx/>
        <a:buNone/>
        <a:tabLst/>
        <a:defRPr b="0" baseline="0" cap="all" i="0" spc="0" strike="noStrike" sz="6800" u="none">
          <a:solidFill>
            <a:srgbClr val="535353"/>
          </a:solidFill>
          <a:uFillTx/>
          <a:latin typeface="+mn-lt"/>
          <a:ea typeface="+mn-ea"/>
          <a:cs typeface="+mn-cs"/>
          <a:sym typeface="Gill Sans Light"/>
        </a:defRPr>
      </a:lvl9pPr>
    </p:titleStyle>
    <p:bodyStyle>
      <a:lvl1pPr marL="2554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1pPr>
      <a:lvl2pPr marL="5729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2pPr>
      <a:lvl3pPr marL="8904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3pPr>
      <a:lvl4pPr marL="12079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4pPr>
      <a:lvl5pPr marL="15254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5pPr>
      <a:lvl6pPr marL="18429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6pPr>
      <a:lvl7pPr marL="21604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7pPr>
      <a:lvl8pPr marL="24779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8pPr>
      <a:lvl9pPr marL="2795494" marR="0" indent="-255494" algn="l" defTabSz="457200" latinLnBrk="0">
        <a:lnSpc>
          <a:spcPct val="120000"/>
        </a:lnSpc>
        <a:spcBef>
          <a:spcPts val="3000"/>
        </a:spcBef>
        <a:spcAft>
          <a:spcPts val="0"/>
        </a:spcAft>
        <a:buClr>
          <a:srgbClr val="535353"/>
        </a:buClr>
        <a:buSzPct val="82000"/>
        <a:buFontTx/>
        <a:buChar char="•"/>
        <a:tabLst/>
        <a:defRPr b="0" baseline="0" cap="none" i="0" spc="0" strike="noStrike" sz="3800" u="none">
          <a:solidFill>
            <a:srgbClr val="535353"/>
          </a:solidFill>
          <a:uFillTx/>
          <a:latin typeface="+mn-lt"/>
          <a:ea typeface="+mn-ea"/>
          <a:cs typeface="+mn-cs"/>
          <a:sym typeface="Gill Sans Light"/>
        </a:defRPr>
      </a:lvl9pPr>
    </p:bodyStyle>
    <p:otherStyle>
      <a:lvl1pPr marL="0" marR="0" indent="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1pPr>
      <a:lvl2pPr marL="0" marR="0" indent="22860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2pPr>
      <a:lvl3pPr marL="0" marR="0" indent="45720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3pPr>
      <a:lvl4pPr marL="0" marR="0" indent="68580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4pPr>
      <a:lvl5pPr marL="0" marR="0" indent="91440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5pPr>
      <a:lvl6pPr marL="0" marR="0" indent="114300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6pPr>
      <a:lvl7pPr marL="0" marR="0" indent="137160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7pPr>
      <a:lvl8pPr marL="0" marR="0" indent="160020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8pPr>
      <a:lvl9pPr marL="0" marR="0" indent="1828800" algn="ctr" defTabSz="457200" latinLnBrk="0">
        <a:lnSpc>
          <a:spcPct val="100000"/>
        </a:lnSpc>
        <a:spcBef>
          <a:spcPts val="0"/>
        </a:spcBef>
        <a:spcAft>
          <a:spcPts val="0"/>
        </a:spcAft>
        <a:buClrTx/>
        <a:buSzTx/>
        <a:buFontTx/>
        <a:buNone/>
        <a:tabLst/>
        <a:defRPr b="0" baseline="0" cap="none" i="0" spc="0" strike="noStrike" sz="1400" u="none">
          <a:solidFill>
            <a:schemeClr val="tx1"/>
          </a:solidFill>
          <a:uFillTx/>
          <a:latin typeface="+mn-lt"/>
          <a:ea typeface="+mn-ea"/>
          <a:cs typeface="+mn-cs"/>
          <a:sym typeface="Gill Sans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hyperlink" Target="https://psycharchives.org/en/item/fe055282-d722-4468-8a8f-01e0cc3c0607"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hyperlink" Target="https://datawiz2.dev.zpid.de" TargetMode="Externa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pid.cloud.panopto.eu/Panopto/Pages/Viewer.aspx?id=a8a6b29f-959e-44b2-b829-af5500be5bc7"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Open Data"/>
          <p:cNvSpPr txBox="1"/>
          <p:nvPr>
            <p:ph type="body" idx="21"/>
          </p:nvPr>
        </p:nvSpPr>
        <p:spPr>
          <a:xfrm>
            <a:off x="1567766" y="2527096"/>
            <a:ext cx="9869268" cy="1031749"/>
          </a:xfrm>
          <a:prstGeom prst="rect">
            <a:avLst/>
          </a:prstGeom>
        </p:spPr>
        <p:txBody>
          <a:bodyPr/>
          <a:lstStyle/>
          <a:p>
            <a:pPr/>
            <a:r>
              <a:t>Open Data</a:t>
            </a:r>
          </a:p>
        </p:txBody>
      </p:sp>
      <p:sp>
        <p:nvSpPr>
          <p:cNvPr id="63" name="Die DGPs-Empfehlungen zum Management und Bereitstellung von Forschungsdaten in der Psychologie…"/>
          <p:cNvSpPr txBox="1"/>
          <p:nvPr>
            <p:ph type="body" idx="22"/>
          </p:nvPr>
        </p:nvSpPr>
        <p:spPr>
          <a:xfrm>
            <a:off x="816015" y="3756084"/>
            <a:ext cx="11372770" cy="3602982"/>
          </a:xfrm>
          <a:prstGeom prst="rect">
            <a:avLst/>
          </a:prstGeom>
        </p:spPr>
        <p:txBody>
          <a:bodyPr/>
          <a:lstStyle/>
          <a:p>
            <a:pPr/>
            <a:r>
              <a:t>Die DGPs-Empfehlungen zum Management und Bereitstellung von Forschungsdaten in der Psychologie</a:t>
            </a:r>
          </a:p>
          <a:p>
            <a:pPr/>
            <a:r>
              <a:t>-</a:t>
            </a:r>
          </a:p>
          <a:p>
            <a:pPr/>
            <a:r>
              <a:t>How to Codebook</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Leitfragen zu den Empfehlungen"/>
          <p:cNvSpPr txBox="1"/>
          <p:nvPr>
            <p:ph type="title"/>
          </p:nvPr>
        </p:nvSpPr>
        <p:spPr>
          <a:prstGeom prst="rect">
            <a:avLst/>
          </a:prstGeom>
        </p:spPr>
        <p:txBody>
          <a:bodyPr/>
          <a:lstStyle>
            <a:lvl1pPr defTabSz="455168">
              <a:defRPr sz="4130"/>
            </a:lvl1pPr>
          </a:lstStyle>
          <a:p>
            <a:pPr/>
            <a:r>
              <a:t>Leitfragen zu den Empfehlungen</a:t>
            </a:r>
          </a:p>
        </p:txBody>
      </p:sp>
      <p:sp>
        <p:nvSpPr>
          <p:cNvPr id="66" name="Instruktion für die Studierenden:…"/>
          <p:cNvSpPr txBox="1"/>
          <p:nvPr>
            <p:ph type="body" idx="1"/>
          </p:nvPr>
        </p:nvSpPr>
        <p:spPr>
          <a:xfrm>
            <a:off x="291941" y="1715606"/>
            <a:ext cx="12161592" cy="7698578"/>
          </a:xfrm>
          <a:prstGeom prst="rect">
            <a:avLst/>
          </a:prstGeom>
        </p:spPr>
        <p:txBody>
          <a:bodyPr/>
          <a:lstStyle/>
          <a:p>
            <a:pPr marL="0" indent="0" defTabSz="357632">
              <a:spcBef>
                <a:spcPts val="400"/>
              </a:spcBef>
              <a:buSzTx/>
              <a:buFontTx/>
              <a:buNone/>
              <a:defRPr i="1" sz="1980"/>
            </a:pPr>
            <a:r>
              <a:t>Instruktion für die Studierenden:</a:t>
            </a:r>
          </a:p>
          <a:p>
            <a:pPr marL="0" indent="0" defTabSz="357632">
              <a:spcBef>
                <a:spcPts val="400"/>
              </a:spcBef>
              <a:buSzTx/>
              <a:buFontTx/>
              <a:buNone/>
              <a:defRPr i="1" sz="1980"/>
            </a:pPr>
            <a:r>
              <a:t>Bitte lesen Sie die DGPs-Empfehlungen "Management und Bereitstellung von Forschungsdaten in der Psychologie" (https://psyarxiv.com/hcxtm) und beantworten Sie die folgenden Leitfragen kurz und präzise.</a:t>
            </a:r>
          </a:p>
          <a:p>
            <a:pPr marL="0" indent="0" defTabSz="357632">
              <a:spcBef>
                <a:spcPts val="400"/>
              </a:spcBef>
              <a:buSzTx/>
              <a:buFontTx/>
              <a:buNone/>
              <a:defRPr sz="1980"/>
            </a:pPr>
          </a:p>
          <a:p>
            <a:pPr marL="264694" indent="-264694" defTabSz="357632">
              <a:spcBef>
                <a:spcPts val="1100"/>
              </a:spcBef>
              <a:buFontTx/>
              <a:buAutoNum type="arabicPeriod" startAt="1"/>
              <a:defRPr sz="1980"/>
            </a:pPr>
            <a:r>
              <a:t>Ein Autor veröffentlicht vollständig Mittelwerte und SDs aller Variablen in einer Tabelle im Ergebnisteil. Sind damit die Primärdaten publiziert und der Dokumentationspflicht entsprochen worden? Wenn nein, warum nicht?</a:t>
            </a:r>
          </a:p>
          <a:p>
            <a:pPr marL="264694" indent="-264694" defTabSz="357632">
              <a:spcBef>
                <a:spcPts val="1100"/>
              </a:spcBef>
              <a:buFontTx/>
              <a:buAutoNum type="arabicPeriod" startAt="1"/>
              <a:defRPr sz="1980"/>
            </a:pPr>
            <a:r>
              <a:t>Nennen Sie drei Beispiele für Metadaten eines Datensatzes.</a:t>
            </a:r>
          </a:p>
          <a:p>
            <a:pPr marL="264694" indent="-264694" defTabSz="357632">
              <a:spcBef>
                <a:spcPts val="1100"/>
              </a:spcBef>
              <a:buFontTx/>
              <a:buAutoNum type="arabicPeriod" startAt="1"/>
              <a:defRPr sz="1980"/>
            </a:pPr>
            <a:r>
              <a:t>Was sind "personenbezogene Daten"? Ist das Geschlecht und Alter einer Person ein personenbezogenes Datum?</a:t>
            </a:r>
          </a:p>
          <a:p>
            <a:pPr marL="264694" indent="-264694" defTabSz="357632">
              <a:spcBef>
                <a:spcPts val="1100"/>
              </a:spcBef>
              <a:buFontTx/>
              <a:buAutoNum type="arabicPeriod" startAt="1"/>
              <a:defRPr sz="1980"/>
            </a:pPr>
            <a:r>
              <a:t>Welche dieser Orte sind geeignet als Repositorium für die langfristige Archivierung und Bereitstellung von Daten? Wenn "Nein", warum nicht? </a:t>
            </a:r>
            <a:br/>
            <a:r>
              <a:t>(a) Die persönliche Webseite der Forscherin an ihrer Universität; (b) das "Online Supplemental Material (OSM)" einer wissenschaftlichen Zeitschrift des Elsevier Verlags; (c) in einem öffentlichen Projekt des Open Science Frameworks (https://osf.io); (d) bei Figshare (https://figshare.com); (e) bei Zenodo (https://zenodo.org)</a:t>
            </a:r>
          </a:p>
          <a:p>
            <a:pPr marL="264694" indent="-264694" defTabSz="357632">
              <a:spcBef>
                <a:spcPts val="1100"/>
              </a:spcBef>
              <a:buFontTx/>
              <a:buAutoNum type="arabicPeriod" startAt="1"/>
              <a:defRPr sz="1980"/>
            </a:pPr>
            <a:r>
              <a:t>Beschreiben Sie in jeweils einem Satz die "Datenbereitstellung Typ 1" und die "Datenbereitstellung Typ 2".</a:t>
            </a:r>
          </a:p>
          <a:p>
            <a:pPr marL="264694" indent="-264694" defTabSz="357632">
              <a:spcBef>
                <a:spcPts val="1100"/>
              </a:spcBef>
              <a:buFontTx/>
              <a:buAutoNum type="arabicPeriod" startAt="1"/>
              <a:defRPr sz="1980"/>
            </a:pPr>
            <a:r>
              <a:t>Was bedeutet ein "Nutzungsembargo"? Wie lange sollte es maximal sein?</a:t>
            </a:r>
          </a:p>
          <a:p>
            <a:pPr marL="264694" indent="-264694" defTabSz="357632">
              <a:spcBef>
                <a:spcPts val="1100"/>
              </a:spcBef>
              <a:buFontTx/>
              <a:buAutoNum type="arabicPeriod" startAt="1"/>
              <a:defRPr sz="1980"/>
            </a:pPr>
            <a:r>
              <a:t>Welche Zugriffsklassen gelten als "open data"?</a:t>
            </a:r>
          </a:p>
        </p:txBody>
      </p:sp>
      <p:sp>
        <p:nvSpPr>
          <p:cNvPr id="67" name="Foliennummer"/>
          <p:cNvSpPr txBox="1"/>
          <p:nvPr>
            <p:ph type="sldNum" sz="quarter" idx="2"/>
          </p:nvPr>
        </p:nvSpPr>
        <p:spPr>
          <a:xfrm>
            <a:off x="12340759" y="9238826"/>
            <a:ext cx="244349" cy="35864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1. Ein Autor veröffentlicht vollständig Mittelwerte und SDs aller Variablen in einer Tabelle im Ergebnisteil. Sind damit die Primärdaten publiziert und der Dokumentationspflicht entsprochen worden? Wenn nein, warum nicht?…"/>
          <p:cNvSpPr txBox="1"/>
          <p:nvPr>
            <p:ph type="body" idx="1"/>
          </p:nvPr>
        </p:nvSpPr>
        <p:spPr>
          <a:prstGeom prst="rect">
            <a:avLst/>
          </a:prstGeom>
        </p:spPr>
        <p:txBody>
          <a:bodyPr/>
          <a:lstStyle/>
          <a:p>
            <a:pPr>
              <a:defRPr b="1"/>
            </a:pPr>
            <a:r>
              <a:t>1. Ein Autor veröffentlicht vollständig Mittelwerte und SDs aller Variablen in einer Tabelle im Ergebnisteil. Sind damit die Primärdaten publiziert und der Dokumentationspflicht entsprochen worden? Wenn nein, warum nicht?</a:t>
            </a:r>
          </a:p>
          <a:p>
            <a:pPr/>
            <a:r>
              <a:t>Nein - das sind nicht die Primärdaten. Hinter einem Mittelwert und SD können sich verschiedenste Rohdaten verbergen, mit Ausreißern, umplausiblen Werten, etc. Manche Reanalysen sind nur mit den Rohdaten möglich.</a:t>
            </a:r>
          </a:p>
        </p:txBody>
      </p:sp>
      <p:sp>
        <p:nvSpPr>
          <p:cNvPr id="70" name="Foliennummer"/>
          <p:cNvSpPr txBox="1"/>
          <p:nvPr>
            <p:ph type="sldNum" sz="quarter" idx="2"/>
          </p:nvPr>
        </p:nvSpPr>
        <p:spPr>
          <a:xfrm>
            <a:off x="12340759" y="9238826"/>
            <a:ext cx="244349" cy="35864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69">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6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69">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69"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 name="2. Nennen Sie drei Beispiele für Metadaten eines Datensatzes.…"/>
          <p:cNvSpPr txBox="1"/>
          <p:nvPr>
            <p:ph type="body" idx="1"/>
          </p:nvPr>
        </p:nvSpPr>
        <p:spPr>
          <a:prstGeom prst="rect">
            <a:avLst/>
          </a:prstGeom>
        </p:spPr>
        <p:txBody>
          <a:bodyPr/>
          <a:lstStyle/>
          <a:p>
            <a:pPr>
              <a:defRPr b="1"/>
            </a:pPr>
            <a:r>
              <a:t>2. Nennen Sie drei Beispiele für Metadaten eines Datensatzes.</a:t>
            </a:r>
          </a:p>
          <a:p>
            <a:pPr/>
            <a:r>
              <a:t>Erhebungsdatum/-zeitraum der Daten</a:t>
            </a:r>
          </a:p>
          <a:p>
            <a:pPr/>
            <a:r>
              <a:t>Ort der Erhebung</a:t>
            </a:r>
          </a:p>
          <a:p>
            <a:pPr/>
            <a:r>
              <a:t>Lizenz zur Nachnutzung</a:t>
            </a:r>
          </a:p>
          <a:p>
            <a:pPr/>
            <a:r>
              <a:t>Kontaktdaten der Ansprechperson, die Auskunft über die Daten(erhebung) geben kann</a:t>
            </a:r>
          </a:p>
          <a:p>
            <a:pPr/>
            <a:r>
              <a:t>Zitationsinformationen: Wie soll man diesen Datensatz korrekt zitieren?</a:t>
            </a:r>
          </a:p>
          <a:p>
            <a:pPr/>
            <a:r>
              <a:t>Codebook / Beschreibung der Variablen</a:t>
            </a:r>
          </a:p>
          <a:p>
            <a:pPr/>
            <a:r>
              <a:t>Geldgeber</a:t>
            </a:r>
          </a:p>
        </p:txBody>
      </p:sp>
      <p:sp>
        <p:nvSpPr>
          <p:cNvPr id="75" name="Foliennummer"/>
          <p:cNvSpPr txBox="1"/>
          <p:nvPr>
            <p:ph type="sldNum" sz="quarter" idx="2"/>
          </p:nvPr>
        </p:nvSpPr>
        <p:spPr>
          <a:xfrm>
            <a:off x="12340759" y="9238826"/>
            <a:ext cx="244349" cy="35864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1" fill="hold">
                                  <p:stCondLst>
                                    <p:cond delay="0"/>
                                  </p:stCondLst>
                                  <p:iterate type="el" backwards="0">
                                    <p:tmAbs val="0"/>
                                  </p:iterate>
                                  <p:childTnLst>
                                    <p:set>
                                      <p:cBhvr>
                                        <p:cTn id="10" fill="hold"/>
                                        <p:tgtEl>
                                          <p:spTgt spid="7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1" fill="hold">
                                  <p:stCondLst>
                                    <p:cond delay="0"/>
                                  </p:stCondLst>
                                  <p:iterate type="el" backwards="0">
                                    <p:tmAbs val="0"/>
                                  </p:iterate>
                                  <p:childTnLst>
                                    <p:set>
                                      <p:cBhvr>
                                        <p:cTn id="14" fill="hold"/>
                                        <p:tgtEl>
                                          <p:spTgt spid="7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1" fill="hold">
                                  <p:stCondLst>
                                    <p:cond delay="0"/>
                                  </p:stCondLst>
                                  <p:iterate type="el" backwards="0">
                                    <p:tmAbs val="0"/>
                                  </p:iterate>
                                  <p:childTnLst>
                                    <p:set>
                                      <p:cBhvr>
                                        <p:cTn id="18" fill="hold"/>
                                        <p:tgtEl>
                                          <p:spTgt spid="7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1" fill="hold">
                                  <p:stCondLst>
                                    <p:cond delay="0"/>
                                  </p:stCondLst>
                                  <p:iterate type="el" backwards="0">
                                    <p:tmAbs val="0"/>
                                  </p:iterate>
                                  <p:childTnLst>
                                    <p:set>
                                      <p:cBhvr>
                                        <p:cTn id="22" fill="hold"/>
                                        <p:tgtEl>
                                          <p:spTgt spid="7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1" fill="hold">
                                  <p:stCondLst>
                                    <p:cond delay="0"/>
                                  </p:stCondLst>
                                  <p:iterate type="el" backwards="0">
                                    <p:tmAbs val="0"/>
                                  </p:iterate>
                                  <p:childTnLst>
                                    <p:set>
                                      <p:cBhvr>
                                        <p:cTn id="26" fill="hold"/>
                                        <p:tgtEl>
                                          <p:spTgt spid="7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0" presetID="1" grpId="1" fill="hold">
                                  <p:stCondLst>
                                    <p:cond delay="0"/>
                                  </p:stCondLst>
                                  <p:iterate type="el" backwards="0">
                                    <p:tmAbs val="0"/>
                                  </p:iterate>
                                  <p:childTnLst>
                                    <p:set>
                                      <p:cBhvr>
                                        <p:cTn id="30" fill="hold"/>
                                        <p:tgtEl>
                                          <p:spTgt spid="74">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74"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3. Was sind &quot;personenbezogene Daten“?…"/>
          <p:cNvSpPr txBox="1"/>
          <p:nvPr>
            <p:ph type="body" idx="1"/>
          </p:nvPr>
        </p:nvSpPr>
        <p:spPr>
          <a:prstGeom prst="rect">
            <a:avLst/>
          </a:prstGeom>
        </p:spPr>
        <p:txBody>
          <a:bodyPr/>
          <a:lstStyle/>
          <a:p>
            <a:pPr marL="441549" indent="-441549" defTabSz="604723">
              <a:spcBef>
                <a:spcPts val="700"/>
              </a:spcBef>
              <a:defRPr b="1" sz="3348"/>
            </a:pPr>
            <a:r>
              <a:t>3. Was sind "personenbezogene Daten“?</a:t>
            </a:r>
          </a:p>
          <a:p>
            <a:pPr marL="441549" indent="-441549" defTabSz="604723">
              <a:spcBef>
                <a:spcPts val="700"/>
              </a:spcBef>
              <a:defRPr sz="3348"/>
            </a:pPr>
            <a:r>
              <a:t>Personenbezogene Daten sind „alle Informationen, die sich auf eine identifizierte oder identifizierbare natürliche Person beziehen“ (Art 4 Zif. 1 DSGVO)</a:t>
            </a:r>
          </a:p>
          <a:p>
            <a:pPr marL="441549" indent="-441549" defTabSz="604723">
              <a:spcBef>
                <a:spcPts val="700"/>
              </a:spcBef>
              <a:defRPr b="1" sz="3348"/>
            </a:pPr>
            <a:r>
              <a:t>Ist das Geschlecht und Alter einer Person ein personenbezogenes Datum?</a:t>
            </a:r>
          </a:p>
          <a:p>
            <a:pPr marL="441549" indent="-441549" defTabSz="604723">
              <a:spcBef>
                <a:spcPts val="700"/>
              </a:spcBef>
              <a:defRPr sz="3348"/>
            </a:pPr>
            <a:r>
              <a:t>Das kommt darauf an: Wenn in dem Datensatz noch hinreichend viele andere (z.B. k &gt;= 5) Personen dieses Geschlecht und Alter haben, dann sind diese Daten nicht auf eine konkrete Person rückführbar. Kann man mit dieser Kombination an Daten jedoch eine konkrete Person identifizieren („der einzige 42-jährige Mann, der gerade Psychologie an der LMU studiert“), dann sind sie personenbeziehbar.</a:t>
            </a:r>
          </a:p>
        </p:txBody>
      </p:sp>
      <p:sp>
        <p:nvSpPr>
          <p:cNvPr id="78" name="Foliennummer"/>
          <p:cNvSpPr txBox="1"/>
          <p:nvPr>
            <p:ph type="sldNum" sz="quarter" idx="2"/>
          </p:nvPr>
        </p:nvSpPr>
        <p:spPr>
          <a:xfrm>
            <a:off x="12340759" y="9238826"/>
            <a:ext cx="244349" cy="35864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77">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7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7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7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7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77"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4. Welche dieser Orte sind geeignet als Repositorium für die langfristige Archivierung und Bereitstellung von Daten? Wenn &quot;Nein&quot;, warum nicht?.…"/>
          <p:cNvSpPr txBox="1"/>
          <p:nvPr>
            <p:ph type="body" idx="1"/>
          </p:nvPr>
        </p:nvSpPr>
        <p:spPr>
          <a:prstGeom prst="rect">
            <a:avLst/>
          </a:prstGeom>
        </p:spPr>
        <p:txBody>
          <a:bodyPr/>
          <a:lstStyle/>
          <a:p>
            <a:pPr marL="346592" indent="-346592" defTabSz="474675">
              <a:spcBef>
                <a:spcPts val="500"/>
              </a:spcBef>
              <a:defRPr b="1" sz="2628"/>
            </a:pPr>
            <a:r>
              <a:t>4. Welche dieser Orte sind geeignet als Repositorium für die langfristige Archivierung und Bereitstellung von Daten? Wenn "Nein", warum nicht?. </a:t>
            </a:r>
          </a:p>
          <a:p>
            <a:pPr lvl="1" marL="743365" indent="-409609" defTabSz="474675">
              <a:spcBef>
                <a:spcPts val="500"/>
              </a:spcBef>
              <a:defRPr sz="2628"/>
            </a:pPr>
            <a:r>
              <a:t>(a) Die persönliche Webseite der Forscherin an ihrer Universität: </a:t>
            </a:r>
            <a:r>
              <a:rPr b="1"/>
              <a:t>Nein</a:t>
            </a:r>
            <a:r>
              <a:t>, da nicht persistent; kein doi.</a:t>
            </a:r>
          </a:p>
          <a:p>
            <a:pPr lvl="1" marL="743365" indent="-409609" defTabSz="474675">
              <a:spcBef>
                <a:spcPts val="500"/>
              </a:spcBef>
              <a:defRPr sz="2628"/>
            </a:pPr>
            <a:r>
              <a:t>(b) das "Online Supplemental Material (OSM)" einer wissenschaftlichen Zeitschrift des Elsevier Verlags: </a:t>
            </a:r>
            <a:r>
              <a:rPr b="1"/>
              <a:t>Nein</a:t>
            </a:r>
            <a:r>
              <a:t>, da hinter paywall; Verlag kann jederzeit den Service einstellen.</a:t>
            </a:r>
          </a:p>
          <a:p>
            <a:pPr lvl="1" marL="743365" indent="-409609" defTabSz="474675">
              <a:spcBef>
                <a:spcPts val="500"/>
              </a:spcBef>
              <a:defRPr sz="2628"/>
            </a:pPr>
            <a:r>
              <a:t>(c) in einem öffentlichen Projekt des Open Science Frameworks (https://osf.io): </a:t>
            </a:r>
            <a:r>
              <a:rPr b="1"/>
              <a:t>Ja</a:t>
            </a:r>
            <a:r>
              <a:t> (non-profit; hat eine „long-term preservation strategy“). Aber besser einen europäischen/deutschen Service nutzen.</a:t>
            </a:r>
          </a:p>
          <a:p>
            <a:pPr lvl="1" marL="743365" indent="-409609" defTabSz="474675">
              <a:spcBef>
                <a:spcPts val="500"/>
              </a:spcBef>
              <a:defRPr sz="2628"/>
            </a:pPr>
            <a:r>
              <a:t>(d) bei Figshare (https://figshare.com): </a:t>
            </a:r>
            <a:r>
              <a:rPr b="1"/>
              <a:t>Jein -&gt; eher Nein</a:t>
            </a:r>
            <a:r>
              <a:t>: Die Nutzungsbedingung sind zwar aktuell kompatibel mit „open-science-Anforderungen“, das Repositorium ist jedoch kommerziell; Nutzungsbedingungen können sich jederzeit ändern.</a:t>
            </a:r>
          </a:p>
          <a:p>
            <a:pPr lvl="1" marL="743365" indent="-409609" defTabSz="474675">
              <a:spcBef>
                <a:spcPts val="500"/>
              </a:spcBef>
              <a:defRPr sz="2628"/>
            </a:pPr>
            <a:r>
              <a:t>(e) bei Zenodo (https://zenodo.org): </a:t>
            </a:r>
            <a:r>
              <a:rPr b="1"/>
              <a:t>Ja</a:t>
            </a:r>
            <a:r>
              <a:t> (wird bei CERN betrieben, öffentlich finanziert ohne Gewinnerzielungsabsicht).</a:t>
            </a:r>
          </a:p>
          <a:p>
            <a:pPr marL="346592" indent="-346592" defTabSz="474675">
              <a:spcBef>
                <a:spcPts val="500"/>
              </a:spcBef>
              <a:defRPr sz="2628"/>
            </a:pPr>
            <a:r>
              <a:t>Aktuell optimal: psychArchives beim ZPID.</a:t>
            </a:r>
          </a:p>
        </p:txBody>
      </p:sp>
      <p:sp>
        <p:nvSpPr>
          <p:cNvPr id="81" name="Foliennummer"/>
          <p:cNvSpPr txBox="1"/>
          <p:nvPr>
            <p:ph type="sldNum" sz="quarter" idx="2"/>
          </p:nvPr>
        </p:nvSpPr>
        <p:spPr>
          <a:xfrm>
            <a:off x="12340759" y="9238826"/>
            <a:ext cx="244349" cy="35864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1" fill="hold">
                                  <p:stCondLst>
                                    <p:cond delay="0"/>
                                  </p:stCondLst>
                                  <p:iterate type="el" backwards="0">
                                    <p:tmAbs val="0"/>
                                  </p:iterate>
                                  <p:childTnLst>
                                    <p:set>
                                      <p:cBhvr>
                                        <p:cTn id="10" fill="hold"/>
                                        <p:tgtEl>
                                          <p:spTgt spid="8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1" fill="hold">
                                  <p:stCondLst>
                                    <p:cond delay="0"/>
                                  </p:stCondLst>
                                  <p:iterate type="el" backwards="0">
                                    <p:tmAbs val="0"/>
                                  </p:iterate>
                                  <p:childTnLst>
                                    <p:set>
                                      <p:cBhvr>
                                        <p:cTn id="14" fill="hold"/>
                                        <p:tgtEl>
                                          <p:spTgt spid="8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1" fill="hold">
                                  <p:stCondLst>
                                    <p:cond delay="0"/>
                                  </p:stCondLst>
                                  <p:iterate type="el" backwards="0">
                                    <p:tmAbs val="0"/>
                                  </p:iterate>
                                  <p:childTnLst>
                                    <p:set>
                                      <p:cBhvr>
                                        <p:cTn id="18" fill="hold"/>
                                        <p:tgtEl>
                                          <p:spTgt spid="8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1" fill="hold">
                                  <p:stCondLst>
                                    <p:cond delay="0"/>
                                  </p:stCondLst>
                                  <p:iterate type="el" backwards="0">
                                    <p:tmAbs val="0"/>
                                  </p:iterate>
                                  <p:childTnLst>
                                    <p:set>
                                      <p:cBhvr>
                                        <p:cTn id="22" fill="hold"/>
                                        <p:tgtEl>
                                          <p:spTgt spid="8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1" fill="hold">
                                  <p:stCondLst>
                                    <p:cond delay="0"/>
                                  </p:stCondLst>
                                  <p:iterate type="el" backwards="0">
                                    <p:tmAbs val="0"/>
                                  </p:iterate>
                                  <p:childTnLst>
                                    <p:set>
                                      <p:cBhvr>
                                        <p:cTn id="26" fill="hold"/>
                                        <p:tgtEl>
                                          <p:spTgt spid="80">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80"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5. Beschreiben Sie in jeweils einem Satz die &quot;Datenbereitstellung Typ 1&quot; und die &quot;Datenbereitstellung Typ 2“.…"/>
          <p:cNvSpPr txBox="1"/>
          <p:nvPr>
            <p:ph type="body" idx="1"/>
          </p:nvPr>
        </p:nvSpPr>
        <p:spPr>
          <a:prstGeom prst="rect">
            <a:avLst/>
          </a:prstGeom>
        </p:spPr>
        <p:txBody>
          <a:bodyPr/>
          <a:lstStyle/>
          <a:p>
            <a:pPr marL="451045" indent="-451045" defTabSz="617727">
              <a:spcBef>
                <a:spcPts val="700"/>
              </a:spcBef>
              <a:defRPr b="1" sz="3420"/>
            </a:pPr>
            <a:r>
              <a:t>5. Beschreiben Sie in jeweils einem Satz die "Datenbereitstellung Typ 1" und die "Datenbereitstellung Typ 2“.</a:t>
            </a:r>
          </a:p>
          <a:p>
            <a:pPr lvl="1" marL="878551" indent="-444211" defTabSz="617727">
              <a:spcBef>
                <a:spcPts val="700"/>
              </a:spcBef>
              <a:defRPr sz="2850"/>
            </a:pPr>
            <a:r>
              <a:t>Datenbereitstellung Typ 1: „Mit Erscheinen einer Publikation sollen alle Primärdaten sowie die dazugehörigen Metadaten bereitgestellt werden, die zur Reproduktion der publizierten Ergebnisse notwendig sind (unabhängig davon, in welchem Kontext (bspw. drittmittelfinanziertes Forschungsprojekt oder studentische Abschlussarbeit) diese entstanden sind)</a:t>
            </a:r>
          </a:p>
          <a:p>
            <a:pPr lvl="1" marL="878551" indent="-444211" defTabSz="617727">
              <a:spcBef>
                <a:spcPts val="700"/>
              </a:spcBef>
              <a:defRPr sz="2850"/>
            </a:pPr>
            <a:r>
              <a:t>Datenbereitstellung Typ 2: „Gemäß den Empfehlungen der DFG soll der Gesamtdatensatz eines Projekts „unmittelbar nach Abschluss der Forschungen oder nach wenigen Monaten der Öffentlichkeit frei zur Verfügung gestellt werden“.  Das beinhaltet auch alle relevanten Daten des Projekts, die zu diesem Zeitpunkt noch nicht Bestandteil einer Publikation sind, einschließlich der entsprechenden Metadaten.</a:t>
            </a:r>
          </a:p>
        </p:txBody>
      </p:sp>
      <p:sp>
        <p:nvSpPr>
          <p:cNvPr id="84" name="Foliennummer"/>
          <p:cNvSpPr txBox="1"/>
          <p:nvPr>
            <p:ph type="sldNum" sz="quarter" idx="2"/>
          </p:nvPr>
        </p:nvSpPr>
        <p:spPr>
          <a:xfrm>
            <a:off x="12340759" y="9238826"/>
            <a:ext cx="244349" cy="35864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1" fill="hold">
                                  <p:stCondLst>
                                    <p:cond delay="0"/>
                                  </p:stCondLst>
                                  <p:iterate type="el" backwards="0">
                                    <p:tmAbs val="0"/>
                                  </p:iterate>
                                  <p:childTnLst>
                                    <p:set>
                                      <p:cBhvr>
                                        <p:cTn id="10" fill="hold"/>
                                        <p:tgtEl>
                                          <p:spTgt spid="83">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83"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 name="6. Was bedeutet ein &quot;Nutzungsembargo&quot;? Wie lange sollte es maximal sein?…"/>
          <p:cNvSpPr txBox="1"/>
          <p:nvPr>
            <p:ph type="body" idx="1"/>
          </p:nvPr>
        </p:nvSpPr>
        <p:spPr>
          <a:prstGeom prst="rect">
            <a:avLst/>
          </a:prstGeom>
        </p:spPr>
        <p:txBody>
          <a:bodyPr/>
          <a:lstStyle/>
          <a:p>
            <a:pPr marL="460541" indent="-460541" defTabSz="630732">
              <a:spcBef>
                <a:spcPts val="700"/>
              </a:spcBef>
              <a:defRPr b="1" sz="3492"/>
            </a:pPr>
            <a:r>
              <a:t>6. Was bedeutet ein "Nutzungsembargo"? Wie lange sollte es maximal sein?</a:t>
            </a:r>
          </a:p>
          <a:p>
            <a:pPr marL="460541" indent="-460541" defTabSz="630732">
              <a:spcBef>
                <a:spcPts val="700"/>
              </a:spcBef>
              <a:defRPr sz="3492"/>
            </a:pPr>
            <a:r>
              <a:t>Die Daten liegen bereits dokumentiert in einem Repositorium, können aber noch nicht von anderen Forschenden (für alle Zwecke) nachgenutzt werden. D.h., die Datenbereitstellenden haben noch eine zeitlang das exklusive Nachnutzungsrecht.</a:t>
            </a:r>
          </a:p>
          <a:p>
            <a:pPr marL="460541" indent="-460541" defTabSz="630732">
              <a:spcBef>
                <a:spcPts val="700"/>
              </a:spcBef>
              <a:defRPr sz="3492"/>
            </a:pPr>
            <a:r>
              <a:t>Die Freischaltung hängt nicht am Gutdünken der Datenbereitstellenden, sondern wird automatisch vom Repositorium nach Ablauf des Embargos vorgenommen.</a:t>
            </a:r>
          </a:p>
          <a:p>
            <a:pPr marL="460541" indent="-460541" defTabSz="630732">
              <a:spcBef>
                <a:spcPts val="700"/>
              </a:spcBef>
              <a:defRPr sz="3492"/>
            </a:pPr>
            <a:r>
              <a:t>Das Embargo soll nicht länger als 5 Jahre nach Projektabschluss gelten (und es muss immer begründet werden).</a:t>
            </a:r>
          </a:p>
        </p:txBody>
      </p:sp>
      <p:sp>
        <p:nvSpPr>
          <p:cNvPr id="87" name="Foliennummer"/>
          <p:cNvSpPr txBox="1"/>
          <p:nvPr>
            <p:ph type="sldNum" sz="quarter" idx="2"/>
          </p:nvPr>
        </p:nvSpPr>
        <p:spPr>
          <a:xfrm>
            <a:off x="12340759" y="9238826"/>
            <a:ext cx="244349" cy="35864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1" fill="hold">
                                  <p:stCondLst>
                                    <p:cond delay="0"/>
                                  </p:stCondLst>
                                  <p:iterate type="el" backwards="0">
                                    <p:tmAbs val="0"/>
                                  </p:iterate>
                                  <p:childTnLst>
                                    <p:set>
                                      <p:cBhvr>
                                        <p:cTn id="10" fill="hold"/>
                                        <p:tgtEl>
                                          <p:spTgt spid="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1" fill="hold">
                                  <p:stCondLst>
                                    <p:cond delay="0"/>
                                  </p:stCondLst>
                                  <p:iterate type="el" backwards="0">
                                    <p:tmAbs val="0"/>
                                  </p:iterate>
                                  <p:childTnLst>
                                    <p:set>
                                      <p:cBhvr>
                                        <p:cTn id="14" fill="hold"/>
                                        <p:tgtEl>
                                          <p:spTgt spid="86">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86"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7. Welche Zugriffsklassen gelten als &quot;open data“?…"/>
          <p:cNvSpPr txBox="1"/>
          <p:nvPr>
            <p:ph type="body" idx="1"/>
          </p:nvPr>
        </p:nvSpPr>
        <p:spPr>
          <a:prstGeom prst="rect">
            <a:avLst/>
          </a:prstGeom>
        </p:spPr>
        <p:txBody>
          <a:bodyPr/>
          <a:lstStyle/>
          <a:p>
            <a:pPr>
              <a:defRPr b="1"/>
            </a:pPr>
            <a:r>
              <a:t>7. Welche Zugriffsklassen gelten als "open data“?</a:t>
            </a:r>
          </a:p>
          <a:p>
            <a:pPr/>
            <a:r>
              <a:t>ZK 0 und ZK 1. Alle restriktiveren Zugriffsklassen sind nicht mehr „open data“.</a:t>
            </a:r>
          </a:p>
        </p:txBody>
      </p:sp>
      <p:sp>
        <p:nvSpPr>
          <p:cNvPr id="90" name="Foliennummer"/>
          <p:cNvSpPr txBox="1"/>
          <p:nvPr>
            <p:ph type="sldNum" sz="quarter" idx="2"/>
          </p:nvPr>
        </p:nvSpPr>
        <p:spPr>
          <a:xfrm>
            <a:off x="12340759" y="9238826"/>
            <a:ext cx="244349" cy="35864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9">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89"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3" name="pasted-image.pdf" descr="pasted-image.pdf"/>
          <p:cNvPicPr>
            <a:picLocks noChangeAspect="1"/>
          </p:cNvPicPr>
          <p:nvPr/>
        </p:nvPicPr>
        <p:blipFill>
          <a:blip r:embed="rId2">
            <a:extLst/>
          </a:blip>
          <a:stretch>
            <a:fillRect/>
          </a:stretch>
        </p:blipFill>
        <p:spPr>
          <a:xfrm>
            <a:off x="1044792" y="233547"/>
            <a:ext cx="10915216" cy="9286506"/>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How to Codebook"/>
          <p:cNvSpPr txBox="1"/>
          <p:nvPr>
            <p:ph type="title"/>
          </p:nvPr>
        </p:nvSpPr>
        <p:spPr>
          <a:prstGeom prst="rect">
            <a:avLst/>
          </a:prstGeom>
        </p:spPr>
        <p:txBody>
          <a:bodyPr/>
          <a:lstStyle/>
          <a:p>
            <a:pPr/>
            <a:r>
              <a:t>How to Codebook</a:t>
            </a:r>
          </a:p>
        </p:txBody>
      </p:sp>
      <p:sp>
        <p:nvSpPr>
          <p:cNvPr id="96"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How to Codebook"/>
          <p:cNvSpPr txBox="1"/>
          <p:nvPr>
            <p:ph type="title"/>
          </p:nvPr>
        </p:nvSpPr>
        <p:spPr>
          <a:prstGeom prst="rect">
            <a:avLst/>
          </a:prstGeom>
        </p:spPr>
        <p:txBody>
          <a:bodyPr/>
          <a:lstStyle/>
          <a:p>
            <a:pPr/>
            <a:r>
              <a:t>How to Codebook</a:t>
            </a:r>
          </a:p>
        </p:txBody>
      </p:sp>
      <p:sp>
        <p:nvSpPr>
          <p:cNvPr id="99"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0" name="pasted-image.png" descr="pasted-image.png"/>
          <p:cNvPicPr>
            <a:picLocks noChangeAspect="1"/>
          </p:cNvPicPr>
          <p:nvPr/>
        </p:nvPicPr>
        <p:blipFill>
          <a:blip r:embed="rId2">
            <a:extLst/>
          </a:blip>
          <a:stretch>
            <a:fillRect/>
          </a:stretch>
        </p:blipFill>
        <p:spPr>
          <a:xfrm>
            <a:off x="1460355" y="2372025"/>
            <a:ext cx="10084090" cy="6136230"/>
          </a:xfrm>
          <a:prstGeom prst="rect">
            <a:avLst/>
          </a:prstGeom>
          <a:ln w="12700">
            <a:miter lim="400000"/>
          </a:ln>
          <a:effectLst>
            <a:outerShdw sx="100000" sy="100000" kx="0" ky="0" algn="b" rotWithShape="0" blurRad="215900" dist="76200" dir="1933291">
              <a:srgbClr val="000000">
                <a:alpha val="65996"/>
              </a:srgbClr>
            </a:outerShdw>
          </a:effectLst>
        </p:spPr>
      </p:pic>
      <p:sp>
        <p:nvSpPr>
          <p:cNvPr id="101" name="See the D-Psy-FAIR standard (developed by Blask et al from the Leibniz-Institute Psychology)"/>
          <p:cNvSpPr txBox="1"/>
          <p:nvPr/>
        </p:nvSpPr>
        <p:spPr>
          <a:xfrm>
            <a:off x="460651" y="1546258"/>
            <a:ext cx="11483304" cy="431079"/>
          </a:xfrm>
          <a:prstGeom prst="rect">
            <a:avLst/>
          </a:prstGeom>
          <a:ln w="12700">
            <a:miter lim="400000"/>
          </a:ln>
          <a:extLst>
            <a:ext uri="{C572A759-6A51-4108-AA02-DFA0A04FC94B}">
              <ma14:wrappingTextBoxFlag xmlns:ma14="http://schemas.microsoft.com/office/mac/drawingml/2011/main" val="1"/>
            </a:ext>
          </a:extLst>
        </p:spPr>
        <p:txBody>
          <a:bodyPr wrap="none" lIns="65023" tIns="65023" rIns="65023" bIns="65023">
            <a:spAutoFit/>
          </a:bodyPr>
          <a:lstStyle/>
          <a:p>
            <a:pPr/>
            <a:r>
              <a:t>See the </a:t>
            </a:r>
            <a:r>
              <a:rPr u="sng">
                <a:solidFill>
                  <a:srgbClr val="1016F4"/>
                </a:solidFill>
                <a:hlinkClick r:id="rId3" invalidUrl="" action="" tgtFrame="" tooltip="" history="1" highlightClick="0" endSnd="0"/>
              </a:rPr>
              <a:t>D-Psy-FAIR standard</a:t>
            </a:r>
            <a:r>
              <a:t> (developed by Blask et al from the Leibniz-Institute Psychology)</a:t>
            </a:r>
          </a:p>
        </p:txBody>
      </p:sp>
      <p:sp>
        <p:nvSpPr>
          <p:cNvPr id="102" name="Save in a human-readable (e.g., .csv) and in a machine-readable (e.g., .json) format!"/>
          <p:cNvSpPr txBox="1"/>
          <p:nvPr/>
        </p:nvSpPr>
        <p:spPr>
          <a:xfrm>
            <a:off x="515965" y="8902944"/>
            <a:ext cx="10463830" cy="431078"/>
          </a:xfrm>
          <a:prstGeom prst="rect">
            <a:avLst/>
          </a:prstGeom>
          <a:ln w="12700">
            <a:miter lim="400000"/>
          </a:ln>
          <a:extLst>
            <a:ext uri="{C572A759-6A51-4108-AA02-DFA0A04FC94B}">
              <ma14:wrappingTextBoxFlag xmlns:ma14="http://schemas.microsoft.com/office/mac/drawingml/2011/main" val="1"/>
            </a:ext>
          </a:extLst>
        </p:spPr>
        <p:txBody>
          <a:bodyPr wrap="none" lIns="65023" tIns="65023" rIns="65023" bIns="65023">
            <a:spAutoFit/>
          </a:bodyPr>
          <a:lstStyle/>
          <a:p>
            <a:pPr/>
            <a:r>
              <a:t>Save in a human-readable (e.g., .csv) and in a machine-readable (e.g., .json) format!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How to Codebook"/>
          <p:cNvSpPr txBox="1"/>
          <p:nvPr>
            <p:ph type="title"/>
          </p:nvPr>
        </p:nvSpPr>
        <p:spPr>
          <a:prstGeom prst="rect">
            <a:avLst/>
          </a:prstGeom>
        </p:spPr>
        <p:txBody>
          <a:bodyPr/>
          <a:lstStyle/>
          <a:p>
            <a:pPr/>
            <a:r>
              <a:t>How to Codebook</a:t>
            </a:r>
          </a:p>
        </p:txBody>
      </p:sp>
      <p:sp>
        <p:nvSpPr>
          <p:cNvPr id="105"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6" name="pasted-image.png" descr="pasted-image.png"/>
          <p:cNvPicPr>
            <a:picLocks noChangeAspect="1"/>
          </p:cNvPicPr>
          <p:nvPr/>
        </p:nvPicPr>
        <p:blipFill>
          <a:blip r:embed="rId2">
            <a:extLst/>
          </a:blip>
          <a:stretch>
            <a:fillRect/>
          </a:stretch>
        </p:blipFill>
        <p:spPr>
          <a:xfrm>
            <a:off x="358460" y="3665923"/>
            <a:ext cx="12287880" cy="5822115"/>
          </a:xfrm>
          <a:prstGeom prst="rect">
            <a:avLst/>
          </a:prstGeom>
          <a:ln w="12700">
            <a:miter lim="400000"/>
          </a:ln>
          <a:effectLst>
            <a:outerShdw sx="100000" sy="100000" kx="0" ky="0" algn="b" rotWithShape="0" blurRad="215900" dist="76200" dir="1933291">
              <a:srgbClr val="000000">
                <a:alpha val="65996"/>
              </a:srgbClr>
            </a:outerShdw>
          </a:effectLst>
        </p:spPr>
      </p:pic>
      <p:sp>
        <p:nvSpPr>
          <p:cNvPr id="107" name="Excel file:…"/>
          <p:cNvSpPr txBox="1"/>
          <p:nvPr/>
        </p:nvSpPr>
        <p:spPr>
          <a:xfrm>
            <a:off x="389811" y="1305843"/>
            <a:ext cx="4494800" cy="1908222"/>
          </a:xfrm>
          <a:prstGeom prst="rect">
            <a:avLst/>
          </a:prstGeom>
          <a:ln w="12700">
            <a:miter lim="400000"/>
          </a:ln>
          <a:extLst>
            <a:ext uri="{C572A759-6A51-4108-AA02-DFA0A04FC94B}">
              <ma14:wrappingTextBoxFlag xmlns:ma14="http://schemas.microsoft.com/office/mac/drawingml/2011/main" val="1"/>
            </a:ext>
          </a:extLst>
        </p:spPr>
        <p:txBody>
          <a:bodyPr wrap="none" lIns="65023" tIns="65023" rIns="65023" bIns="65023">
            <a:spAutoFit/>
          </a:bodyPr>
          <a:lstStyle/>
          <a:p>
            <a:pPr>
              <a:defRPr b="1" sz="2700"/>
            </a:pPr>
            <a:r>
              <a:t>Excel file:</a:t>
            </a:r>
          </a:p>
          <a:p>
            <a:pPr>
              <a:defRPr sz="2700"/>
            </a:pPr>
            <a:r>
              <a:t>Human-readable: </a:t>
            </a:r>
            <a:r>
              <a:rPr b="1">
                <a:solidFill>
                  <a:srgbClr val="0BA44B"/>
                </a:solidFill>
              </a:rPr>
              <a:t>✓✓</a:t>
            </a:r>
            <a:r>
              <a:t>                 </a:t>
            </a:r>
            <a:br/>
            <a:r>
              <a:t>Machine-readabe:</a:t>
            </a:r>
            <a:r>
              <a:rPr b="1">
                <a:solidFill>
                  <a:srgbClr val="D7A22B"/>
                </a:solidFill>
              </a:rPr>
              <a:t> ~</a:t>
            </a:r>
            <a:r>
              <a:t>          </a:t>
            </a:r>
          </a:p>
          <a:p>
            <a:pPr>
              <a:defRPr sz="2700"/>
            </a:pPr>
            <a:r>
              <a:t>Accessible: </a:t>
            </a:r>
            <a:r>
              <a:rPr>
                <a:effectLst>
                  <a:outerShdw sx="100000" sy="100000" kx="0" ky="0" algn="b" rotWithShape="0" blurRad="25400" dist="12700" dir="2400000">
                    <a:srgbClr val="000000"/>
                  </a:outerShdw>
                </a:effectLst>
              </a:rPr>
              <a: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How to Codebook"/>
          <p:cNvSpPr txBox="1"/>
          <p:nvPr>
            <p:ph type="title"/>
          </p:nvPr>
        </p:nvSpPr>
        <p:spPr>
          <a:prstGeom prst="rect">
            <a:avLst/>
          </a:prstGeom>
        </p:spPr>
        <p:txBody>
          <a:bodyPr/>
          <a:lstStyle/>
          <a:p>
            <a:pPr/>
            <a:r>
              <a:t>How to Codebook</a:t>
            </a:r>
          </a:p>
        </p:txBody>
      </p:sp>
      <p:sp>
        <p:nvSpPr>
          <p:cNvPr id="110"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11" name="csv file:…"/>
          <p:cNvSpPr txBox="1"/>
          <p:nvPr/>
        </p:nvSpPr>
        <p:spPr>
          <a:xfrm>
            <a:off x="389811" y="1797989"/>
            <a:ext cx="7753020" cy="1959891"/>
          </a:xfrm>
          <a:prstGeom prst="rect">
            <a:avLst/>
          </a:prstGeom>
          <a:ln w="12700">
            <a:miter lim="400000"/>
          </a:ln>
          <a:extLst>
            <a:ext uri="{C572A759-6A51-4108-AA02-DFA0A04FC94B}">
              <ma14:wrappingTextBoxFlag xmlns:ma14="http://schemas.microsoft.com/office/mac/drawingml/2011/main" val="1"/>
            </a:ext>
          </a:extLst>
        </p:spPr>
        <p:txBody>
          <a:bodyPr wrap="none" lIns="65023" tIns="65023" rIns="65023" bIns="65023">
            <a:spAutoFit/>
          </a:bodyPr>
          <a:lstStyle/>
          <a:p>
            <a:pPr>
              <a:defRPr b="1" sz="2700"/>
            </a:pPr>
            <a:r>
              <a:t>csv file:</a:t>
            </a:r>
          </a:p>
          <a:p>
            <a:pPr>
              <a:defRPr sz="2700"/>
            </a:pPr>
            <a:r>
              <a:t>Human-readable: </a:t>
            </a:r>
            <a:r>
              <a:rPr b="1">
                <a:solidFill>
                  <a:srgbClr val="D7A22B"/>
                </a:solidFill>
              </a:rPr>
              <a:t>~  (raw)        </a:t>
            </a:r>
            <a:r>
              <a:rPr b="1">
                <a:solidFill>
                  <a:srgbClr val="0BA44B"/>
                </a:solidFill>
              </a:rPr>
              <a:t>✓</a:t>
            </a:r>
            <a:r>
              <a:t> (after import)               </a:t>
            </a:r>
            <a:br/>
            <a:r>
              <a:t>Machine-readabe:</a:t>
            </a:r>
            <a:r>
              <a:rPr b="1">
                <a:solidFill>
                  <a:srgbClr val="D7A22B"/>
                </a:solidFill>
              </a:rPr>
              <a:t> </a:t>
            </a:r>
            <a:r>
              <a:rPr b="1">
                <a:solidFill>
                  <a:srgbClr val="0BA44B"/>
                </a:solidFill>
              </a:rPr>
              <a:t>✓</a:t>
            </a:r>
            <a:r>
              <a:t>                 </a:t>
            </a:r>
          </a:p>
          <a:p>
            <a:pPr>
              <a:defRPr sz="2700"/>
            </a:pPr>
            <a:r>
              <a:t>Accessible: </a:t>
            </a:r>
            <a:r>
              <a:rPr b="1">
                <a:solidFill>
                  <a:srgbClr val="0BA44B"/>
                </a:solidFill>
              </a:rPr>
              <a:t>✓</a:t>
            </a:r>
          </a:p>
        </p:txBody>
      </p:sp>
      <p:pic>
        <p:nvPicPr>
          <p:cNvPr id="112" name="pasted-image.png" descr="pasted-image.png"/>
          <p:cNvPicPr>
            <a:picLocks noChangeAspect="1"/>
          </p:cNvPicPr>
          <p:nvPr/>
        </p:nvPicPr>
        <p:blipFill>
          <a:blip r:embed="rId2">
            <a:extLst/>
          </a:blip>
          <a:stretch>
            <a:fillRect/>
          </a:stretch>
        </p:blipFill>
        <p:spPr>
          <a:xfrm>
            <a:off x="165940" y="4319859"/>
            <a:ext cx="13004801" cy="4027056"/>
          </a:xfrm>
          <a:prstGeom prst="rect">
            <a:avLst/>
          </a:prstGeom>
          <a:ln w="12700">
            <a:miter lim="400000"/>
          </a:ln>
          <a:effectLst>
            <a:outerShdw sx="100000" sy="100000" kx="0" ky="0" algn="b" rotWithShape="0" blurRad="215900" dist="76200" dir="1933291">
              <a:srgbClr val="000000">
                <a:alpha val="65996"/>
              </a:srgbClr>
            </a:outerShdw>
          </a:effectLst>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How to Codebook"/>
          <p:cNvSpPr txBox="1"/>
          <p:nvPr>
            <p:ph type="title"/>
          </p:nvPr>
        </p:nvSpPr>
        <p:spPr>
          <a:prstGeom prst="rect">
            <a:avLst/>
          </a:prstGeom>
        </p:spPr>
        <p:txBody>
          <a:bodyPr/>
          <a:lstStyle/>
          <a:p>
            <a:pPr/>
            <a:r>
              <a:t>How to Codebook</a:t>
            </a:r>
          </a:p>
        </p:txBody>
      </p:sp>
      <p:sp>
        <p:nvSpPr>
          <p:cNvPr id="115"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16" name="json file:…"/>
          <p:cNvSpPr txBox="1"/>
          <p:nvPr/>
        </p:nvSpPr>
        <p:spPr>
          <a:xfrm>
            <a:off x="389811" y="1797989"/>
            <a:ext cx="4693541" cy="1883517"/>
          </a:xfrm>
          <a:prstGeom prst="rect">
            <a:avLst/>
          </a:prstGeom>
          <a:ln w="12700">
            <a:miter lim="400000"/>
          </a:ln>
          <a:extLst>
            <a:ext uri="{C572A759-6A51-4108-AA02-DFA0A04FC94B}">
              <ma14:wrappingTextBoxFlag xmlns:ma14="http://schemas.microsoft.com/office/mac/drawingml/2011/main" val="1"/>
            </a:ext>
          </a:extLst>
        </p:spPr>
        <p:txBody>
          <a:bodyPr wrap="none" lIns="65023" tIns="65023" rIns="65023" bIns="65023">
            <a:spAutoFit/>
          </a:bodyPr>
          <a:lstStyle/>
          <a:p>
            <a:pPr>
              <a:defRPr b="1" sz="2700"/>
            </a:pPr>
            <a:r>
              <a:t>json file:</a:t>
            </a:r>
          </a:p>
          <a:p>
            <a:pPr>
              <a:defRPr sz="2700"/>
            </a:pPr>
            <a:r>
              <a:t>Human-readable: </a:t>
            </a:r>
            <a:r>
              <a:rPr b="1">
                <a:solidFill>
                  <a:srgbClr val="D7A22B"/>
                </a:solidFill>
              </a:rPr>
              <a:t>~</a:t>
            </a:r>
            <a:r>
              <a:t>             </a:t>
            </a:r>
            <a:br/>
            <a:r>
              <a:t>Machine-readabe:</a:t>
            </a:r>
            <a:r>
              <a:rPr b="1">
                <a:solidFill>
                  <a:srgbClr val="D7A22B"/>
                </a:solidFill>
              </a:rPr>
              <a:t> </a:t>
            </a:r>
            <a:r>
              <a:rPr b="1">
                <a:solidFill>
                  <a:srgbClr val="0BA44B"/>
                </a:solidFill>
              </a:rPr>
              <a:t>✓</a:t>
            </a:r>
            <a:r>
              <a:t> </a:t>
            </a:r>
            <a:r>
              <a:rPr b="1">
                <a:solidFill>
                  <a:srgbClr val="0BA44B"/>
                </a:solidFill>
              </a:rPr>
              <a:t>✓</a:t>
            </a:r>
            <a:r>
              <a:t>                 </a:t>
            </a:r>
          </a:p>
          <a:p>
            <a:pPr>
              <a:defRPr sz="2700"/>
            </a:pPr>
            <a:r>
              <a:t>Accessible: </a:t>
            </a:r>
            <a:r>
              <a:rPr b="1">
                <a:solidFill>
                  <a:srgbClr val="0BA44B"/>
                </a:solidFill>
              </a:rPr>
              <a:t>✓</a:t>
            </a:r>
          </a:p>
        </p:txBody>
      </p:sp>
      <p:pic>
        <p:nvPicPr>
          <p:cNvPr id="117" name="pasted-image.png" descr="pasted-image.png"/>
          <p:cNvPicPr>
            <a:picLocks noChangeAspect="1"/>
          </p:cNvPicPr>
          <p:nvPr/>
        </p:nvPicPr>
        <p:blipFill>
          <a:blip r:embed="rId2">
            <a:extLst/>
          </a:blip>
          <a:stretch>
            <a:fillRect/>
          </a:stretch>
        </p:blipFill>
        <p:spPr>
          <a:xfrm>
            <a:off x="5020753" y="1662016"/>
            <a:ext cx="7077153" cy="7674289"/>
          </a:xfrm>
          <a:prstGeom prst="rect">
            <a:avLst/>
          </a:prstGeom>
          <a:ln w="12700">
            <a:miter lim="400000"/>
          </a:ln>
          <a:effectLst>
            <a:outerShdw sx="100000" sy="100000" kx="0" ky="0" algn="b" rotWithShape="0" blurRad="215900" dist="76200" dir="1933291">
              <a:srgbClr val="000000">
                <a:alpha val="65996"/>
              </a:srgbClr>
            </a:outerShdw>
          </a:effectLst>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Excursus: json file format"/>
          <p:cNvSpPr txBox="1"/>
          <p:nvPr>
            <p:ph type="title"/>
          </p:nvPr>
        </p:nvSpPr>
        <p:spPr>
          <a:prstGeom prst="rect">
            <a:avLst/>
          </a:prstGeom>
        </p:spPr>
        <p:txBody>
          <a:bodyPr/>
          <a:lstStyle>
            <a:lvl1pPr defTabSz="585215">
              <a:defRPr sz="5310"/>
            </a:lvl1pPr>
          </a:lstStyle>
          <a:p>
            <a:pPr/>
            <a:r>
              <a:t>Excursus: json file format</a:t>
            </a:r>
          </a:p>
        </p:txBody>
      </p:sp>
      <p:sp>
        <p:nvSpPr>
          <p:cNvPr id="120"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21" name="{…"/>
          <p:cNvSpPr txBox="1"/>
          <p:nvPr/>
        </p:nvSpPr>
        <p:spPr>
          <a:xfrm>
            <a:off x="1330139" y="2451461"/>
            <a:ext cx="9895454" cy="5921249"/>
          </a:xfrm>
          <a:prstGeom prst="rect">
            <a:avLst/>
          </a:prstGeom>
          <a:solidFill>
            <a:srgbClr val="DDDDDD"/>
          </a:solidFill>
          <a:ln w="12700">
            <a:miter lim="400000"/>
          </a:ln>
          <a:extLst>
            <a:ext uri="{C572A759-6A51-4108-AA02-DFA0A04FC94B}">
              <ma14:wrappingTextBoxFlag xmlns:ma14="http://schemas.microsoft.com/office/mac/drawingml/2011/main" val="1"/>
            </a:ext>
          </a:extLst>
        </p:spPr>
        <p:txBody>
          <a:bodyPr lIns="65023" tIns="65023" rIns="65023" bIns="65023">
            <a:spAutoFit/>
          </a:bodyPr>
          <a:lstStyle/>
          <a:p>
            <a:pPr>
              <a:defRPr sz="2600">
                <a:latin typeface="Fira Code Light Regular"/>
                <a:ea typeface="Fira Code Light Regular"/>
                <a:cs typeface="Fira Code Light Regular"/>
                <a:sym typeface="Fira Code Light Regular"/>
              </a:defRPr>
            </a:pPr>
            <a:r>
              <a:t>{</a:t>
            </a:r>
          </a:p>
          <a:p>
            <a:pPr>
              <a:defRPr sz="2600">
                <a:latin typeface="Fira Code Light Regular"/>
                <a:ea typeface="Fira Code Light Regular"/>
                <a:cs typeface="Fira Code Light Regular"/>
                <a:sym typeface="Fira Code Light Regular"/>
              </a:defRPr>
            </a:pPr>
            <a:r>
              <a:t>  "name": "Jason",</a:t>
            </a:r>
          </a:p>
          <a:p>
            <a:pPr>
              <a:defRPr sz="2600">
                <a:latin typeface="Fira Code Light Regular"/>
                <a:ea typeface="Fira Code Light Regular"/>
                <a:cs typeface="Fira Code Light Regular"/>
                <a:sym typeface="Fira Code Light Regular"/>
              </a:defRPr>
            </a:pPr>
            <a:r>
              <a:t>  "age": 39,</a:t>
            </a:r>
          </a:p>
          <a:p>
            <a:pPr>
              <a:defRPr sz="2600">
                <a:latin typeface="Fira Code Light Regular"/>
                <a:ea typeface="Fira Code Light Regular"/>
                <a:cs typeface="Fira Code Light Regular"/>
                <a:sym typeface="Fira Code Light Regular"/>
              </a:defRPr>
            </a:pPr>
            <a:r>
              <a:t>  "height": 1.92,</a:t>
            </a:r>
          </a:p>
          <a:p>
            <a:pPr>
              <a:defRPr sz="2600">
                <a:latin typeface="Fira Code Light Regular"/>
                <a:ea typeface="Fira Code Light Regular"/>
                <a:cs typeface="Fira Code Light Regular"/>
                <a:sym typeface="Fira Code Light Regular"/>
              </a:defRPr>
            </a:pPr>
            <a:r>
              <a:t>  "gender": "M",</a:t>
            </a:r>
          </a:p>
          <a:p>
            <a:pPr>
              <a:defRPr sz="2600">
                <a:latin typeface="Fira Code Light Regular"/>
                <a:ea typeface="Fira Code Light Regular"/>
                <a:cs typeface="Fira Code Light Regular"/>
                <a:sym typeface="Fira Code Light Regular"/>
              </a:defRPr>
            </a:pPr>
            <a:r>
              <a:t>  "salary": 70000,</a:t>
            </a:r>
          </a:p>
          <a:p>
            <a:pPr>
              <a:defRPr sz="2600">
                <a:latin typeface="Fira Code Light Regular"/>
                <a:ea typeface="Fira Code Light Regular"/>
                <a:cs typeface="Fira Code Light Regular"/>
                <a:sym typeface="Fira Code Light Regular"/>
              </a:defRPr>
            </a:pPr>
            <a:r>
              <a:t>  "married": true,</a:t>
            </a:r>
          </a:p>
          <a:p>
            <a:pPr>
              <a:defRPr sz="2600">
                <a:latin typeface="Fira Code Light Regular"/>
                <a:ea typeface="Fira Code Light Regular"/>
                <a:cs typeface="Fira Code Light Regular"/>
                <a:sym typeface="Fira Code Light Regular"/>
              </a:defRPr>
            </a:pPr>
            <a:r>
              <a:t>  "children": [</a:t>
            </a:r>
          </a:p>
          <a:p>
            <a:pPr>
              <a:defRPr sz="2600">
                <a:latin typeface="Fira Code Light Regular"/>
                <a:ea typeface="Fira Code Light Regular"/>
                <a:cs typeface="Fira Code Light Regular"/>
                <a:sym typeface="Fira Code Light Regular"/>
              </a:defRPr>
            </a:pPr>
            <a:r>
              <a:t>    {"name": "Tom", "age": 9, "gender":"M"},</a:t>
            </a:r>
          </a:p>
          <a:p>
            <a:pPr>
              <a:defRPr sz="2600">
                <a:latin typeface="Fira Code Light Regular"/>
                <a:ea typeface="Fira Code Light Regular"/>
                <a:cs typeface="Fira Code Light Regular"/>
                <a:sym typeface="Fira Code Light Regular"/>
              </a:defRPr>
            </a:pPr>
            <a:r>
              <a:t>    {"name": "Ava", "age": 7, "gender":"F"}</a:t>
            </a:r>
          </a:p>
          <a:p>
            <a:pPr>
              <a:defRPr sz="2600">
                <a:latin typeface="Fira Code Light Regular"/>
                <a:ea typeface="Fira Code Light Regular"/>
                <a:cs typeface="Fira Code Light Regular"/>
                <a:sym typeface="Fira Code Light Regular"/>
              </a:defRPr>
            </a:pPr>
            <a:r>
              <a:t>  ]</a:t>
            </a:r>
          </a:p>
          <a:p>
            <a:pPr>
              <a:defRPr sz="2600">
                <a:latin typeface="Fira Code Light Regular"/>
                <a:ea typeface="Fira Code Light Regular"/>
                <a:cs typeface="Fira Code Light Regular"/>
                <a:sym typeface="Fira Code Light Regular"/>
              </a:defRPr>
            </a:pPr>
            <a:r>
              <a: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Excursus: json file format"/>
          <p:cNvSpPr txBox="1"/>
          <p:nvPr>
            <p:ph type="title"/>
          </p:nvPr>
        </p:nvSpPr>
        <p:spPr>
          <a:prstGeom prst="rect">
            <a:avLst/>
          </a:prstGeom>
        </p:spPr>
        <p:txBody>
          <a:bodyPr/>
          <a:lstStyle>
            <a:lvl1pPr defTabSz="585215">
              <a:defRPr sz="5310"/>
            </a:lvl1pPr>
          </a:lstStyle>
          <a:p>
            <a:pPr/>
            <a:r>
              <a:t>Excursus: json file format</a:t>
            </a:r>
          </a:p>
        </p:txBody>
      </p:sp>
      <p:sp>
        <p:nvSpPr>
          <p:cNvPr id="124"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25" name="{…"/>
          <p:cNvSpPr txBox="1"/>
          <p:nvPr/>
        </p:nvSpPr>
        <p:spPr>
          <a:xfrm>
            <a:off x="1348577" y="3354913"/>
            <a:ext cx="9895454" cy="5921249"/>
          </a:xfrm>
          <a:prstGeom prst="rect">
            <a:avLst/>
          </a:prstGeom>
          <a:solidFill>
            <a:srgbClr val="DDDDDD"/>
          </a:solidFill>
          <a:ln w="12700">
            <a:miter lim="400000"/>
          </a:ln>
          <a:extLst>
            <a:ext uri="{C572A759-6A51-4108-AA02-DFA0A04FC94B}">
              <ma14:wrappingTextBoxFlag xmlns:ma14="http://schemas.microsoft.com/office/mac/drawingml/2011/main" val="1"/>
            </a:ext>
          </a:extLst>
        </p:spPr>
        <p:txBody>
          <a:bodyPr lIns="65023" tIns="65023" rIns="65023" bIns="65023">
            <a:spAutoFit/>
          </a:bodyPr>
          <a:lstStyle/>
          <a:p>
            <a:pPr>
              <a:defRPr sz="2600">
                <a:latin typeface="Fira Code Light Regular"/>
                <a:ea typeface="Fira Code Light Regular"/>
                <a:cs typeface="Fira Code Light Regular"/>
                <a:sym typeface="Fira Code Light Regular"/>
              </a:defRPr>
            </a:pPr>
            <a:r>
              <a:t>{</a:t>
            </a:r>
          </a:p>
          <a:p>
            <a:pPr>
              <a:defRPr sz="2600">
                <a:latin typeface="Fira Code Light Regular"/>
                <a:ea typeface="Fira Code Light Regular"/>
                <a:cs typeface="Fira Code Light Regular"/>
                <a:sym typeface="Fira Code Light Regular"/>
              </a:defRPr>
            </a:pPr>
            <a:r>
              <a:t>  "name": "Jason",</a:t>
            </a:r>
          </a:p>
          <a:p>
            <a:pPr>
              <a:defRPr sz="2600">
                <a:latin typeface="Fira Code Light Regular"/>
                <a:ea typeface="Fira Code Light Regular"/>
                <a:cs typeface="Fira Code Light Regular"/>
                <a:sym typeface="Fira Code Light Regular"/>
              </a:defRPr>
            </a:pPr>
            <a:r>
              <a:t>  "age": 39,</a:t>
            </a:r>
          </a:p>
          <a:p>
            <a:pPr>
              <a:defRPr sz="2600">
                <a:latin typeface="Fira Code Light Regular"/>
                <a:ea typeface="Fira Code Light Regular"/>
                <a:cs typeface="Fira Code Light Regular"/>
                <a:sym typeface="Fira Code Light Regular"/>
              </a:defRPr>
            </a:pPr>
            <a:r>
              <a:t>  "height": 1.92,</a:t>
            </a:r>
          </a:p>
          <a:p>
            <a:pPr>
              <a:defRPr sz="2600">
                <a:latin typeface="Fira Code Light Regular"/>
                <a:ea typeface="Fira Code Light Regular"/>
                <a:cs typeface="Fira Code Light Regular"/>
                <a:sym typeface="Fira Code Light Regular"/>
              </a:defRPr>
            </a:pPr>
            <a:r>
              <a:t>  "gender": "M",</a:t>
            </a:r>
          </a:p>
          <a:p>
            <a:pPr>
              <a:defRPr sz="2600">
                <a:latin typeface="Fira Code Light Regular"/>
                <a:ea typeface="Fira Code Light Regular"/>
                <a:cs typeface="Fira Code Light Regular"/>
                <a:sym typeface="Fira Code Light Regular"/>
              </a:defRPr>
            </a:pPr>
            <a:r>
              <a:t>  "salary": 70000,</a:t>
            </a:r>
          </a:p>
          <a:p>
            <a:pPr>
              <a:defRPr sz="2600">
                <a:latin typeface="Fira Code Light Regular"/>
                <a:ea typeface="Fira Code Light Regular"/>
                <a:cs typeface="Fira Code Light Regular"/>
                <a:sym typeface="Fira Code Light Regular"/>
              </a:defRPr>
            </a:pPr>
            <a:r>
              <a:t>  "married": true,</a:t>
            </a:r>
          </a:p>
          <a:p>
            <a:pPr>
              <a:defRPr sz="2600">
                <a:latin typeface="Fira Code Light Regular"/>
                <a:ea typeface="Fira Code Light Regular"/>
                <a:cs typeface="Fira Code Light Regular"/>
                <a:sym typeface="Fira Code Light Regular"/>
              </a:defRPr>
            </a:pPr>
            <a:r>
              <a:t>  "children": [</a:t>
            </a:r>
          </a:p>
          <a:p>
            <a:pPr>
              <a:defRPr sz="2600">
                <a:latin typeface="Fira Code Light Regular"/>
                <a:ea typeface="Fira Code Light Regular"/>
                <a:cs typeface="Fira Code Light Regular"/>
                <a:sym typeface="Fira Code Light Regular"/>
              </a:defRPr>
            </a:pPr>
            <a:r>
              <a:t>    {"name": "Tom", "age": 9, "gender":"M"},</a:t>
            </a:r>
          </a:p>
          <a:p>
            <a:pPr>
              <a:defRPr sz="2600">
                <a:latin typeface="Fira Code Light Regular"/>
                <a:ea typeface="Fira Code Light Regular"/>
                <a:cs typeface="Fira Code Light Regular"/>
                <a:sym typeface="Fira Code Light Regular"/>
              </a:defRPr>
            </a:pPr>
            <a:r>
              <a:t>    {"name": "Ava", "age": 7, "gender":"F"}</a:t>
            </a:r>
          </a:p>
          <a:p>
            <a:pPr>
              <a:defRPr sz="2600">
                <a:latin typeface="Fira Code Light Regular"/>
                <a:ea typeface="Fira Code Light Regular"/>
                <a:cs typeface="Fira Code Light Regular"/>
                <a:sym typeface="Fira Code Light Regular"/>
              </a:defRPr>
            </a:pPr>
            <a:r>
              <a:t>  ]</a:t>
            </a:r>
          </a:p>
          <a:p>
            <a:pPr>
              <a:defRPr sz="2600">
                <a:latin typeface="Fira Code Light Regular"/>
                <a:ea typeface="Fira Code Light Regular"/>
                <a:cs typeface="Fira Code Light Regular"/>
                <a:sym typeface="Fira Code Light Regular"/>
              </a:defRPr>
            </a:pPr>
            <a:r>
              <a:t>}</a:t>
            </a:r>
          </a:p>
        </p:txBody>
      </p:sp>
      <p:sp>
        <p:nvSpPr>
          <p:cNvPr id="126" name="Opening and closing brackets"/>
          <p:cNvSpPr/>
          <p:nvPr/>
        </p:nvSpPr>
        <p:spPr>
          <a:xfrm>
            <a:off x="206993" y="1294230"/>
            <a:ext cx="2310607" cy="20379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94" y="0"/>
                </a:moveTo>
                <a:cubicBezTo>
                  <a:pt x="266" y="0"/>
                  <a:pt x="0" y="301"/>
                  <a:pt x="0" y="673"/>
                </a:cubicBezTo>
                <a:lnTo>
                  <a:pt x="0" y="9683"/>
                </a:lnTo>
                <a:cubicBezTo>
                  <a:pt x="0" y="10055"/>
                  <a:pt x="266" y="10356"/>
                  <a:pt x="594" y="10356"/>
                </a:cubicBezTo>
                <a:lnTo>
                  <a:pt x="11123" y="10356"/>
                </a:lnTo>
                <a:lnTo>
                  <a:pt x="12310" y="21600"/>
                </a:lnTo>
                <a:lnTo>
                  <a:pt x="13497" y="10356"/>
                </a:lnTo>
                <a:lnTo>
                  <a:pt x="21006" y="10356"/>
                </a:lnTo>
                <a:cubicBezTo>
                  <a:pt x="21334" y="10356"/>
                  <a:pt x="21600" y="10055"/>
                  <a:pt x="21600" y="9683"/>
                </a:cubicBezTo>
                <a:lnTo>
                  <a:pt x="21600" y="673"/>
                </a:lnTo>
                <a:cubicBezTo>
                  <a:pt x="21600" y="301"/>
                  <a:pt x="21334" y="0"/>
                  <a:pt x="21006" y="0"/>
                </a:cubicBezTo>
                <a:lnTo>
                  <a:pt x="594" y="0"/>
                </a:lnTo>
                <a:close/>
              </a:path>
            </a:pathLst>
          </a:custGeom>
          <a:solidFill>
            <a:srgbClr val="FFFFFF"/>
          </a:solidFill>
          <a:ln w="25400">
            <a:solidFill>
              <a:schemeClr val="accent1"/>
            </a:solidFill>
          </a:ln>
          <a:effectLst>
            <a:outerShdw sx="100000" sy="100000" kx="0" ky="0" algn="b" rotWithShape="0" blurRad="50800" dist="25400" dir="5400000">
              <a:srgbClr val="000000">
                <a:alpha val="35000"/>
              </a:srgbClr>
            </a:outerShdw>
          </a:effectLst>
          <a:extLst>
            <a:ext uri="{C572A759-6A51-4108-AA02-DFA0A04FC94B}">
              <ma14:wrappingTextBoxFlag xmlns:ma14="http://schemas.microsoft.com/office/mac/drawingml/2011/main" val="1"/>
            </a:ext>
          </a:extLst>
        </p:spPr>
        <p:txBody>
          <a:bodyPr lIns="65023" tIns="65023" rIns="65023" bIns="65023" anchor="ctr"/>
          <a:lstStyle/>
          <a:p>
            <a:pPr/>
            <a:r>
              <a:t>Opening and closing brackets</a:t>
            </a:r>
          </a:p>
        </p:txBody>
      </p:sp>
      <p:sp>
        <p:nvSpPr>
          <p:cNvPr id="127" name="Key  (= variable name)"/>
          <p:cNvSpPr/>
          <p:nvPr/>
        </p:nvSpPr>
        <p:spPr>
          <a:xfrm>
            <a:off x="1884833" y="2738619"/>
            <a:ext cx="2506664" cy="13088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7" y="0"/>
                </a:moveTo>
                <a:cubicBezTo>
                  <a:pt x="245" y="0"/>
                  <a:pt x="0" y="469"/>
                  <a:pt x="0" y="1048"/>
                </a:cubicBezTo>
                <a:lnTo>
                  <a:pt x="0" y="14972"/>
                </a:lnTo>
                <a:cubicBezTo>
                  <a:pt x="0" y="15551"/>
                  <a:pt x="245" y="16020"/>
                  <a:pt x="547" y="16020"/>
                </a:cubicBezTo>
                <a:lnTo>
                  <a:pt x="2544" y="16020"/>
                </a:lnTo>
                <a:lnTo>
                  <a:pt x="3642" y="21600"/>
                </a:lnTo>
                <a:lnTo>
                  <a:pt x="4737" y="16020"/>
                </a:lnTo>
                <a:lnTo>
                  <a:pt x="21053" y="16020"/>
                </a:lnTo>
                <a:cubicBezTo>
                  <a:pt x="21355" y="16020"/>
                  <a:pt x="21600" y="15551"/>
                  <a:pt x="21600" y="14972"/>
                </a:cubicBezTo>
                <a:lnTo>
                  <a:pt x="21600" y="1048"/>
                </a:lnTo>
                <a:cubicBezTo>
                  <a:pt x="21600" y="469"/>
                  <a:pt x="21355" y="0"/>
                  <a:pt x="21053" y="0"/>
                </a:cubicBezTo>
                <a:lnTo>
                  <a:pt x="547" y="0"/>
                </a:lnTo>
                <a:close/>
              </a:path>
            </a:pathLst>
          </a:custGeom>
          <a:solidFill>
            <a:srgbClr val="FFFFFF"/>
          </a:solidFill>
          <a:ln w="25400">
            <a:solidFill>
              <a:schemeClr val="accent1"/>
            </a:solidFill>
          </a:ln>
          <a:effectLst>
            <a:outerShdw sx="100000" sy="100000" kx="0" ky="0" algn="b" rotWithShape="0" blurRad="50800" dist="25400" dir="5400000">
              <a:srgbClr val="000000">
                <a:alpha val="35000"/>
              </a:srgbClr>
            </a:outerShdw>
          </a:effectLst>
          <a:extLst>
            <a:ext uri="{C572A759-6A51-4108-AA02-DFA0A04FC94B}">
              <ma14:wrappingTextBoxFlag xmlns:ma14="http://schemas.microsoft.com/office/mac/drawingml/2011/main" val="1"/>
            </a:ext>
          </a:extLst>
        </p:spPr>
        <p:txBody>
          <a:bodyPr lIns="65023" tIns="65023" rIns="65023" bIns="65023" anchor="ctr"/>
          <a:lstStyle/>
          <a:p>
            <a:pPr/>
            <a:r>
              <a:rPr b="1"/>
              <a:t>Key</a:t>
            </a:r>
            <a:r>
              <a:t> </a:t>
            </a:r>
            <a:br/>
            <a:r>
              <a:t>(= variable name)</a:t>
            </a:r>
          </a:p>
        </p:txBody>
      </p:sp>
      <p:sp>
        <p:nvSpPr>
          <p:cNvPr id="128" name="Value"/>
          <p:cNvSpPr/>
          <p:nvPr/>
        </p:nvSpPr>
        <p:spPr>
          <a:xfrm>
            <a:off x="4479451" y="2810850"/>
            <a:ext cx="1790304" cy="12128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830" y="0"/>
                </a:moveTo>
                <a:cubicBezTo>
                  <a:pt x="2407" y="0"/>
                  <a:pt x="2064" y="506"/>
                  <a:pt x="2064" y="1131"/>
                </a:cubicBezTo>
                <a:lnTo>
                  <a:pt x="2064" y="6693"/>
                </a:lnTo>
                <a:lnTo>
                  <a:pt x="0" y="21600"/>
                </a:lnTo>
                <a:lnTo>
                  <a:pt x="4424" y="14709"/>
                </a:lnTo>
                <a:lnTo>
                  <a:pt x="20834" y="14709"/>
                </a:lnTo>
                <a:cubicBezTo>
                  <a:pt x="21257" y="14709"/>
                  <a:pt x="21600" y="14202"/>
                  <a:pt x="21600" y="13578"/>
                </a:cubicBezTo>
                <a:lnTo>
                  <a:pt x="21600" y="1131"/>
                </a:lnTo>
                <a:cubicBezTo>
                  <a:pt x="21600" y="506"/>
                  <a:pt x="21257" y="0"/>
                  <a:pt x="20834" y="0"/>
                </a:cubicBezTo>
                <a:lnTo>
                  <a:pt x="2830" y="0"/>
                </a:lnTo>
                <a:close/>
              </a:path>
            </a:pathLst>
          </a:custGeom>
          <a:solidFill>
            <a:srgbClr val="FFFFFF"/>
          </a:solidFill>
          <a:ln w="25400">
            <a:solidFill>
              <a:schemeClr val="accent1"/>
            </a:solidFill>
          </a:ln>
          <a:effectLst>
            <a:outerShdw sx="100000" sy="100000" kx="0" ky="0" algn="b" rotWithShape="0" blurRad="50800" dist="25400" dir="5400000">
              <a:srgbClr val="000000">
                <a:alpha val="35000"/>
              </a:srgbClr>
            </a:outerShdw>
          </a:effectLst>
          <a:extLst>
            <a:ext uri="{C572A759-6A51-4108-AA02-DFA0A04FC94B}">
              <ma14:wrappingTextBoxFlag xmlns:ma14="http://schemas.microsoft.com/office/mac/drawingml/2011/main" val="1"/>
            </a:ext>
          </a:extLst>
        </p:spPr>
        <p:txBody>
          <a:bodyPr lIns="65023" tIns="65023" rIns="65023" bIns="65023" anchor="ctr"/>
          <a:lstStyle>
            <a:lvl1pPr>
              <a:defRPr b="1"/>
            </a:lvl1pPr>
          </a:lstStyle>
          <a:p>
            <a:pPr>
              <a:defRPr b="0"/>
            </a:pPr>
            <a:r>
              <a:rPr b="1"/>
              <a:t>Value</a:t>
            </a:r>
          </a:p>
        </p:txBody>
      </p:sp>
      <p:sp>
        <p:nvSpPr>
          <p:cNvPr id="129" name="Value of type string: Use „“"/>
          <p:cNvSpPr/>
          <p:nvPr/>
        </p:nvSpPr>
        <p:spPr>
          <a:xfrm>
            <a:off x="4622234" y="5226203"/>
            <a:ext cx="5275660" cy="6758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113" y="0"/>
                </a:moveTo>
                <a:cubicBezTo>
                  <a:pt x="5969" y="0"/>
                  <a:pt x="5853" y="909"/>
                  <a:pt x="5853" y="2029"/>
                </a:cubicBezTo>
                <a:lnTo>
                  <a:pt x="5853" y="6874"/>
                </a:lnTo>
                <a:lnTo>
                  <a:pt x="0" y="10933"/>
                </a:lnTo>
                <a:lnTo>
                  <a:pt x="5853" y="14992"/>
                </a:lnTo>
                <a:lnTo>
                  <a:pt x="5853" y="19571"/>
                </a:lnTo>
                <a:cubicBezTo>
                  <a:pt x="5853" y="20691"/>
                  <a:pt x="5969" y="21600"/>
                  <a:pt x="6113" y="21600"/>
                </a:cubicBezTo>
                <a:lnTo>
                  <a:pt x="21340" y="21600"/>
                </a:lnTo>
                <a:cubicBezTo>
                  <a:pt x="21484" y="21600"/>
                  <a:pt x="21600" y="20691"/>
                  <a:pt x="21600" y="19571"/>
                </a:cubicBezTo>
                <a:lnTo>
                  <a:pt x="21600" y="2029"/>
                </a:lnTo>
                <a:cubicBezTo>
                  <a:pt x="21600" y="909"/>
                  <a:pt x="21484" y="0"/>
                  <a:pt x="21340" y="0"/>
                </a:cubicBezTo>
                <a:lnTo>
                  <a:pt x="6113" y="0"/>
                </a:lnTo>
                <a:close/>
              </a:path>
            </a:pathLst>
          </a:custGeom>
          <a:solidFill>
            <a:srgbClr val="FFFFFF"/>
          </a:solidFill>
          <a:ln w="25400">
            <a:solidFill>
              <a:schemeClr val="accent1"/>
            </a:solidFill>
          </a:ln>
          <a:effectLst>
            <a:outerShdw sx="100000" sy="100000" kx="0" ky="0" algn="b" rotWithShape="0" blurRad="50800" dist="25400" dir="5400000">
              <a:srgbClr val="000000">
                <a:alpha val="35000"/>
              </a:srgbClr>
            </a:outerShdw>
          </a:effectLst>
          <a:extLst>
            <a:ext uri="{C572A759-6A51-4108-AA02-DFA0A04FC94B}">
              <ma14:wrappingTextBoxFlag xmlns:ma14="http://schemas.microsoft.com/office/mac/drawingml/2011/main" val="1"/>
            </a:ext>
          </a:extLst>
        </p:spPr>
        <p:txBody>
          <a:bodyPr lIns="65023" tIns="65023" rIns="65023" bIns="65023" anchor="ctr"/>
          <a:lstStyle>
            <a:lvl1pPr>
              <a:defRPr b="1"/>
            </a:lvl1pPr>
          </a:lstStyle>
          <a:p>
            <a:pPr>
              <a:defRPr b="0"/>
            </a:pPr>
            <a:r>
              <a:rPr b="1"/>
              <a:t>Value of type string: Use „“</a:t>
            </a:r>
          </a:p>
        </p:txBody>
      </p:sp>
      <p:sp>
        <p:nvSpPr>
          <p:cNvPr id="130" name="Value of type numeric"/>
          <p:cNvSpPr/>
          <p:nvPr/>
        </p:nvSpPr>
        <p:spPr>
          <a:xfrm>
            <a:off x="4050662" y="4287012"/>
            <a:ext cx="4491038" cy="6758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81" y="0"/>
                </a:moveTo>
                <a:cubicBezTo>
                  <a:pt x="7012" y="0"/>
                  <a:pt x="6876" y="909"/>
                  <a:pt x="6876" y="2029"/>
                </a:cubicBezTo>
                <a:lnTo>
                  <a:pt x="6876" y="6874"/>
                </a:lnTo>
                <a:lnTo>
                  <a:pt x="0" y="10933"/>
                </a:lnTo>
                <a:lnTo>
                  <a:pt x="6876" y="14992"/>
                </a:lnTo>
                <a:lnTo>
                  <a:pt x="6876" y="19571"/>
                </a:lnTo>
                <a:cubicBezTo>
                  <a:pt x="6876" y="20691"/>
                  <a:pt x="7012" y="21600"/>
                  <a:pt x="7181" y="21600"/>
                </a:cubicBezTo>
                <a:lnTo>
                  <a:pt x="21295" y="21600"/>
                </a:lnTo>
                <a:cubicBezTo>
                  <a:pt x="21463" y="21600"/>
                  <a:pt x="21600" y="20691"/>
                  <a:pt x="21600" y="19571"/>
                </a:cubicBezTo>
                <a:lnTo>
                  <a:pt x="21600" y="2029"/>
                </a:lnTo>
                <a:cubicBezTo>
                  <a:pt x="21600" y="909"/>
                  <a:pt x="21463" y="0"/>
                  <a:pt x="21295" y="0"/>
                </a:cubicBezTo>
                <a:lnTo>
                  <a:pt x="7181" y="0"/>
                </a:lnTo>
                <a:close/>
              </a:path>
            </a:pathLst>
          </a:custGeom>
          <a:solidFill>
            <a:srgbClr val="FFFFFF"/>
          </a:solidFill>
          <a:ln w="25400">
            <a:solidFill>
              <a:schemeClr val="accent1"/>
            </a:solidFill>
          </a:ln>
          <a:effectLst>
            <a:outerShdw sx="100000" sy="100000" kx="0" ky="0" algn="b" rotWithShape="0" blurRad="50800" dist="25400" dir="5400000">
              <a:srgbClr val="000000">
                <a:alpha val="35000"/>
              </a:srgbClr>
            </a:outerShdw>
          </a:effectLst>
          <a:extLst>
            <a:ext uri="{C572A759-6A51-4108-AA02-DFA0A04FC94B}">
              <ma14:wrappingTextBoxFlag xmlns:ma14="http://schemas.microsoft.com/office/mac/drawingml/2011/main" val="1"/>
            </a:ext>
          </a:extLst>
        </p:spPr>
        <p:txBody>
          <a:bodyPr lIns="65023" tIns="65023" rIns="65023" bIns="65023" anchor="ctr"/>
          <a:lstStyle>
            <a:lvl1pPr>
              <a:defRPr b="1"/>
            </a:lvl1pPr>
          </a:lstStyle>
          <a:p>
            <a:pPr>
              <a:defRPr b="0"/>
            </a:pPr>
            <a:r>
              <a:rPr b="1"/>
              <a:t>Value of type numeric</a:t>
            </a:r>
          </a:p>
        </p:txBody>
      </p:sp>
      <p:sp>
        <p:nvSpPr>
          <p:cNvPr id="131" name="Value of type Boolean: Use true and false (without „“)"/>
          <p:cNvSpPr/>
          <p:nvPr/>
        </p:nvSpPr>
        <p:spPr>
          <a:xfrm>
            <a:off x="5004201" y="6017891"/>
            <a:ext cx="7143751" cy="10298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53" y="0"/>
                </a:moveTo>
                <a:cubicBezTo>
                  <a:pt x="4647" y="0"/>
                  <a:pt x="4561" y="596"/>
                  <a:pt x="4561" y="1332"/>
                </a:cubicBezTo>
                <a:lnTo>
                  <a:pt x="4561" y="8141"/>
                </a:lnTo>
                <a:lnTo>
                  <a:pt x="0" y="10804"/>
                </a:lnTo>
                <a:lnTo>
                  <a:pt x="4561" y="13468"/>
                </a:lnTo>
                <a:lnTo>
                  <a:pt x="4561" y="20268"/>
                </a:lnTo>
                <a:cubicBezTo>
                  <a:pt x="4561" y="21004"/>
                  <a:pt x="4647" y="21600"/>
                  <a:pt x="4753" y="21600"/>
                </a:cubicBezTo>
                <a:lnTo>
                  <a:pt x="21408" y="21600"/>
                </a:lnTo>
                <a:cubicBezTo>
                  <a:pt x="21514" y="21600"/>
                  <a:pt x="21600" y="21004"/>
                  <a:pt x="21600" y="20268"/>
                </a:cubicBezTo>
                <a:lnTo>
                  <a:pt x="21600" y="1332"/>
                </a:lnTo>
                <a:cubicBezTo>
                  <a:pt x="21600" y="596"/>
                  <a:pt x="21514" y="0"/>
                  <a:pt x="21408" y="0"/>
                </a:cubicBezTo>
                <a:lnTo>
                  <a:pt x="4753" y="0"/>
                </a:lnTo>
                <a:close/>
              </a:path>
            </a:pathLst>
          </a:custGeom>
          <a:solidFill>
            <a:srgbClr val="FFFFFF"/>
          </a:solidFill>
          <a:ln w="25400">
            <a:solidFill>
              <a:schemeClr val="accent1"/>
            </a:solidFill>
          </a:ln>
          <a:effectLst>
            <a:outerShdw sx="100000" sy="100000" kx="0" ky="0" algn="b" rotWithShape="0" blurRad="50800" dist="25400" dir="5400000">
              <a:srgbClr val="000000">
                <a:alpha val="35000"/>
              </a:srgbClr>
            </a:outerShdw>
          </a:effectLst>
          <a:extLst>
            <a:ext uri="{C572A759-6A51-4108-AA02-DFA0A04FC94B}">
              <ma14:wrappingTextBoxFlag xmlns:ma14="http://schemas.microsoft.com/office/mac/drawingml/2011/main" val="1"/>
            </a:ext>
          </a:extLst>
        </p:spPr>
        <p:txBody>
          <a:bodyPr lIns="65023" tIns="65023" rIns="65023" bIns="65023" anchor="ctr"/>
          <a:lstStyle/>
          <a:p>
            <a:pPr/>
            <a:r>
              <a:rPr b="1"/>
              <a:t>Value of type Boolean: Use </a:t>
            </a:r>
            <a:r>
              <a:rPr b="1" i="1"/>
              <a:t>true</a:t>
            </a:r>
            <a:r>
              <a:rPr b="1"/>
              <a:t> and </a:t>
            </a:r>
            <a:r>
              <a:rPr b="1" i="1"/>
              <a:t>false</a:t>
            </a:r>
            <a:br>
              <a:rPr b="1" i="1"/>
            </a:br>
            <a:r>
              <a:rPr b="1" i="1"/>
              <a:t>(without „“)</a:t>
            </a:r>
          </a:p>
        </p:txBody>
      </p:sp>
      <p:sp>
        <p:nvSpPr>
          <p:cNvPr id="132" name="Arrays: encapsulate with [ ]"/>
          <p:cNvSpPr/>
          <p:nvPr/>
        </p:nvSpPr>
        <p:spPr>
          <a:xfrm>
            <a:off x="4390538" y="7307269"/>
            <a:ext cx="3903267" cy="20058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316" y="17540"/>
                </a:lnTo>
                <a:lnTo>
                  <a:pt x="316" y="20916"/>
                </a:lnTo>
                <a:cubicBezTo>
                  <a:pt x="316" y="21294"/>
                  <a:pt x="474" y="21600"/>
                  <a:pt x="668" y="21600"/>
                </a:cubicBezTo>
                <a:lnTo>
                  <a:pt x="21249" y="21600"/>
                </a:lnTo>
                <a:cubicBezTo>
                  <a:pt x="21443" y="21600"/>
                  <a:pt x="21600" y="21294"/>
                  <a:pt x="21600" y="20916"/>
                </a:cubicBezTo>
                <a:lnTo>
                  <a:pt x="21600" y="15005"/>
                </a:lnTo>
                <a:cubicBezTo>
                  <a:pt x="21600" y="14628"/>
                  <a:pt x="21443" y="14322"/>
                  <a:pt x="21249" y="14322"/>
                </a:cubicBezTo>
                <a:lnTo>
                  <a:pt x="1021" y="14322"/>
                </a:lnTo>
                <a:lnTo>
                  <a:pt x="0" y="0"/>
                </a:lnTo>
                <a:close/>
              </a:path>
            </a:pathLst>
          </a:custGeom>
          <a:solidFill>
            <a:srgbClr val="FFFFFF"/>
          </a:solidFill>
          <a:ln w="25400">
            <a:solidFill>
              <a:schemeClr val="accent1"/>
            </a:solidFill>
          </a:ln>
          <a:effectLst>
            <a:outerShdw sx="100000" sy="100000" kx="0" ky="0" algn="b" rotWithShape="0" blurRad="50800" dist="25400" dir="5400000">
              <a:srgbClr val="000000">
                <a:alpha val="35000"/>
              </a:srgbClr>
            </a:outerShdw>
          </a:effectLst>
          <a:extLst>
            <a:ext uri="{C572A759-6A51-4108-AA02-DFA0A04FC94B}">
              <ma14:wrappingTextBoxFlag xmlns:ma14="http://schemas.microsoft.com/office/mac/drawingml/2011/main" val="1"/>
            </a:ext>
          </a:extLst>
        </p:spPr>
        <p:txBody>
          <a:bodyPr lIns="65023" tIns="65023" rIns="65023" bIns="65023" anchor="ctr"/>
          <a:lstStyle>
            <a:lvl1pPr>
              <a:defRPr b="1"/>
            </a:lvl1pPr>
          </a:lstStyle>
          <a:p>
            <a:pPr>
              <a:defRPr b="0"/>
            </a:pPr>
            <a:r>
              <a:rPr b="1"/>
              <a:t>Arrays: encapsulate with [ ]</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How to Codebook: Manual"/>
          <p:cNvSpPr txBox="1"/>
          <p:nvPr>
            <p:ph type="title"/>
          </p:nvPr>
        </p:nvSpPr>
        <p:spPr>
          <a:prstGeom prst="rect">
            <a:avLst/>
          </a:prstGeom>
        </p:spPr>
        <p:txBody>
          <a:bodyPr/>
          <a:lstStyle>
            <a:lvl1pPr defTabSz="565708">
              <a:defRPr sz="5133"/>
            </a:lvl1pPr>
          </a:lstStyle>
          <a:p>
            <a:pPr/>
            <a:r>
              <a:t>How to Codebook: Manual</a:t>
            </a:r>
          </a:p>
        </p:txBody>
      </p:sp>
      <p:sp>
        <p:nvSpPr>
          <p:cNvPr id="135" name="Step 1: Create your codebook as a csv file…"/>
          <p:cNvSpPr txBox="1"/>
          <p:nvPr>
            <p:ph type="body" idx="1"/>
          </p:nvPr>
        </p:nvSpPr>
        <p:spPr>
          <a:prstGeom prst="rect">
            <a:avLst/>
          </a:prstGeom>
        </p:spPr>
        <p:txBody>
          <a:bodyPr/>
          <a:lstStyle/>
          <a:p>
            <a:pPr/>
            <a:r>
              <a:t>Step 1: Create your codebook as a csv file</a:t>
            </a:r>
          </a:p>
          <a:p>
            <a:pPr lvl="1"/>
            <a:r>
              <a:t>e.g., create it in Excel first, then export as .csv file</a:t>
            </a:r>
          </a:p>
          <a:p>
            <a:pPr/>
            <a:r>
              <a:t>Step 2: Import into R and convert it to a json file</a:t>
            </a:r>
            <a:br/>
            <a:br/>
          </a:p>
          <a:p>
            <a:pPr/>
            <a:r>
              <a:t>Step 3: Save both codebook files in the /doc subfolder of your project</a:t>
            </a:r>
          </a:p>
          <a:p>
            <a:pPr/>
            <a:r>
              <a:t>Step 4: Upload both the .csv and the .json-file to the repository</a:t>
            </a:r>
          </a:p>
        </p:txBody>
      </p:sp>
      <p:pic>
        <p:nvPicPr>
          <p:cNvPr id="136" name="pasted-image.png" descr="pasted-image.png"/>
          <p:cNvPicPr>
            <a:picLocks noChangeAspect="1"/>
          </p:cNvPicPr>
          <p:nvPr/>
        </p:nvPicPr>
        <p:blipFill>
          <a:blip r:embed="rId2">
            <a:extLst/>
          </a:blip>
          <a:stretch>
            <a:fillRect/>
          </a:stretch>
        </p:blipFill>
        <p:spPr>
          <a:xfrm>
            <a:off x="344169" y="1794030"/>
            <a:ext cx="7237449" cy="2080225"/>
          </a:xfrm>
          <a:prstGeom prst="rect">
            <a:avLst/>
          </a:prstGeom>
          <a:ln w="12700">
            <a:miter lim="400000"/>
          </a:ln>
        </p:spPr>
      </p:pic>
      <p:sp>
        <p:nvSpPr>
          <p:cNvPr id="137"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How to Codebook: DataWiz2"/>
          <p:cNvSpPr txBox="1"/>
          <p:nvPr>
            <p:ph type="title"/>
          </p:nvPr>
        </p:nvSpPr>
        <p:spPr>
          <a:prstGeom prst="rect">
            <a:avLst/>
          </a:prstGeom>
        </p:spPr>
        <p:txBody>
          <a:bodyPr/>
          <a:lstStyle>
            <a:lvl1pPr defTabSz="520192">
              <a:defRPr sz="4720"/>
            </a:lvl1pPr>
          </a:lstStyle>
          <a:p>
            <a:pPr/>
            <a:r>
              <a:t>How to Codebook: DataWiz2</a:t>
            </a:r>
          </a:p>
        </p:txBody>
      </p:sp>
      <p:sp>
        <p:nvSpPr>
          <p:cNvPr id="140"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1" name="pasted-image.png" descr="pasted-image.png"/>
          <p:cNvPicPr>
            <a:picLocks noChangeAspect="1"/>
          </p:cNvPicPr>
          <p:nvPr/>
        </p:nvPicPr>
        <p:blipFill>
          <a:blip r:embed="rId2">
            <a:extLst/>
          </a:blip>
          <a:stretch>
            <a:fillRect/>
          </a:stretch>
        </p:blipFill>
        <p:spPr>
          <a:xfrm>
            <a:off x="384959" y="2577763"/>
            <a:ext cx="12234882" cy="4001758"/>
          </a:xfrm>
          <a:prstGeom prst="rect">
            <a:avLst/>
          </a:prstGeom>
          <a:ln w="12700">
            <a:miter lim="400000"/>
          </a:ln>
          <a:effectLst>
            <a:outerShdw sx="100000" sy="100000" kx="0" ky="0" algn="b" rotWithShape="0" blurRad="215900" dist="76200" dir="1933291">
              <a:srgbClr val="000000">
                <a:alpha val="65996"/>
              </a:srgbClr>
            </a:outerShdw>
          </a:effectLst>
        </p:spPr>
      </p:pic>
      <p:sp>
        <p:nvSpPr>
          <p:cNvPr id="142" name="https://datawiz2.dev.zpid.de"/>
          <p:cNvSpPr txBox="1"/>
          <p:nvPr/>
        </p:nvSpPr>
        <p:spPr>
          <a:xfrm>
            <a:off x="4661980" y="7517447"/>
            <a:ext cx="3680840" cy="431079"/>
          </a:xfrm>
          <a:prstGeom prst="rect">
            <a:avLst/>
          </a:prstGeom>
          <a:ln w="12700">
            <a:miter lim="400000"/>
          </a:ln>
          <a:extLst>
            <a:ext uri="{C572A759-6A51-4108-AA02-DFA0A04FC94B}">
              <ma14:wrappingTextBoxFlag xmlns:ma14="http://schemas.microsoft.com/office/mac/drawingml/2011/main" val="1"/>
            </a:ext>
          </a:extLst>
        </p:spPr>
        <p:txBody>
          <a:bodyPr wrap="none" lIns="65023" tIns="65023" rIns="65023" bIns="65023">
            <a:spAutoFit/>
          </a:bodyPr>
          <a:lstStyle>
            <a:lvl1pPr>
              <a:defRPr u="sng">
                <a:solidFill>
                  <a:srgbClr val="1016F4"/>
                </a:solidFill>
                <a:hlinkClick r:id="rId3" invalidUrl="" action="" tgtFrame="" tooltip="" history="1" highlightClick="0" endSnd="0"/>
              </a:defRPr>
            </a:lvl1pPr>
          </a:lstStyle>
          <a:p>
            <a:pPr>
              <a:defRPr u="none">
                <a:solidFill>
                  <a:srgbClr val="000000"/>
                </a:solidFill>
              </a:defRPr>
            </a:pPr>
            <a:r>
              <a:rPr u="sng">
                <a:solidFill>
                  <a:srgbClr val="1016F4"/>
                </a:solidFill>
                <a:hlinkClick r:id="rId3" invalidUrl="" action="" tgtFrame="" tooltip="" history="1" highlightClick="0" endSnd="0"/>
              </a:rPr>
              <a:t>https://datawiz2.dev.zpid.de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How to Codebook"/>
          <p:cNvSpPr txBox="1"/>
          <p:nvPr>
            <p:ph type="title"/>
          </p:nvPr>
        </p:nvSpPr>
        <p:spPr>
          <a:prstGeom prst="rect">
            <a:avLst/>
          </a:prstGeom>
        </p:spPr>
        <p:txBody>
          <a:bodyPr/>
          <a:lstStyle/>
          <a:p>
            <a:pPr/>
            <a:r>
              <a:t>How to Codebook</a:t>
            </a:r>
          </a:p>
        </p:txBody>
      </p:sp>
      <p:sp>
        <p:nvSpPr>
          <p:cNvPr id="145" name="Resources:…"/>
          <p:cNvSpPr txBox="1"/>
          <p:nvPr>
            <p:ph type="body" idx="1"/>
          </p:nvPr>
        </p:nvSpPr>
        <p:spPr>
          <a:prstGeom prst="rect">
            <a:avLst/>
          </a:prstGeom>
        </p:spPr>
        <p:txBody>
          <a:bodyPr/>
          <a:lstStyle/>
          <a:p>
            <a:pPr/>
            <a:r>
              <a:t>Resources:</a:t>
            </a:r>
          </a:p>
          <a:p>
            <a:pPr/>
            <a:r>
              <a:t>Video (51 min.): "</a:t>
            </a:r>
            <a:r>
              <a:rPr u="sng">
                <a:solidFill>
                  <a:srgbClr val="1016F4"/>
                </a:solidFill>
                <a:hlinkClick r:id="rId2" invalidUrl="" action="" tgtFrame="" tooltip="" history="1" highlightClick="0" endSnd="0"/>
              </a:rPr>
              <a:t>PTOS 9: Einführung in das Forschungsdatenmanagement mit D-Psy_FAIR</a:t>
            </a:r>
            <a:r>
              <a:t>“</a:t>
            </a:r>
          </a:p>
          <a:p>
            <a:pPr lvl="1"/>
            <a:r>
              <a:t>siehe v.a.: „Schritt 2: Ein Codebuch erstellen“ ab 29:27</a:t>
            </a:r>
          </a:p>
        </p:txBody>
      </p:sp>
      <p:sp>
        <p:nvSpPr>
          <p:cNvPr id="146" name="Foliennumm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enutzerdefiniertes Design">
  <a:themeElements>
    <a:clrScheme name="Benutzerdefiniertes Design">
      <a:dk1>
        <a:srgbClr val="000000"/>
      </a:dk1>
      <a:lt1>
        <a:srgbClr val="FFFFFF"/>
      </a:lt1>
      <a:dk2>
        <a:srgbClr val="A7A7A7"/>
      </a:dk2>
      <a:lt2>
        <a:srgbClr val="535353"/>
      </a:lt2>
      <a:accent1>
        <a:srgbClr val="04843D"/>
      </a:accent1>
      <a:accent2>
        <a:srgbClr val="81B761"/>
      </a:accent2>
      <a:accent3>
        <a:srgbClr val="F3B242"/>
      </a:accent3>
      <a:accent4>
        <a:srgbClr val="777877"/>
      </a:accent4>
      <a:accent5>
        <a:srgbClr val="B1B3B1"/>
      </a:accent5>
      <a:accent6>
        <a:srgbClr val="BAD6AD"/>
      </a:accent6>
      <a:hlink>
        <a:srgbClr val="0000FF"/>
      </a:hlink>
      <a:folHlink>
        <a:srgbClr val="FF00FF"/>
      </a:folHlink>
    </a:clrScheme>
    <a:fontScheme name="Benutzerdefiniertes Design">
      <a:majorFont>
        <a:latin typeface="Helvetica"/>
        <a:ea typeface="Helvetica"/>
        <a:cs typeface="Helvetica"/>
      </a:majorFont>
      <a:minorFont>
        <a:latin typeface="Gill Sans Light"/>
        <a:ea typeface="Gill Sans Light"/>
        <a:cs typeface="Gill Sans Light"/>
      </a:minorFont>
    </a:fontScheme>
    <a:fmtScheme name="Benutzerdefiniertes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50800" dist="25400" dir="5400000">
              <a:srgbClr val="000000">
                <a:alpha val="35000"/>
              </a:srgbClr>
            </a:outerShdw>
          </a:effectLst>
        </a:effectStyle>
        <a:effectStyle>
          <a:effectLst>
            <a:outerShdw sx="100000" sy="100000" kx="0" ky="0" algn="b" rotWithShape="0" blurRad="50800" dist="25400" dir="5400000">
              <a:srgbClr val="000000">
                <a:alpha val="35000"/>
              </a:srgbClr>
            </a:outerShdw>
          </a:effectLst>
        </a:effectStyle>
        <a:effectStyle>
          <a:effectLst>
            <a:outerShdw sx="100000" sy="100000" kx="0" ky="0" algn="b" rotWithShape="0" blurRad="50800" dist="254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50800" dist="25400" dir="5400000">
            <a:srgbClr val="000000">
              <a:alpha val="35000"/>
            </a:srgbClr>
          </a:outerShdw>
        </a:effectLst>
        <a:sp3d/>
      </a:spPr>
      <a:bodyPr rot="0" spcFirstLastPara="1" vertOverflow="overflow" horzOverflow="overflow" vert="horz" wrap="square" lIns="65023" tIns="65023" rIns="65023" bIns="65023" numCol="1" spcCol="38100" rtlCol="0" anchor="ctr" upright="0">
        <a:spAutoFit/>
      </a:bodyPr>
      <a:lstStyle>
        <a:defPPr marL="0" marR="0" indent="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50800" dist="254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65023" tIns="65023" rIns="65023" bIns="65023" numCol="1" spcCol="38100" rtlCol="0" anchor="t" upright="0">
        <a:spAutoFit/>
      </a:bodyPr>
      <a:lstStyle>
        <a:defPPr marL="0" marR="0" indent="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enutzerdefiniertes Design">
  <a:themeElements>
    <a:clrScheme name="Benutzerdefiniertes Design">
      <a:dk1>
        <a:srgbClr val="000000"/>
      </a:dk1>
      <a:lt1>
        <a:srgbClr val="FFFFFF"/>
      </a:lt1>
      <a:dk2>
        <a:srgbClr val="A7A7A7"/>
      </a:dk2>
      <a:lt2>
        <a:srgbClr val="535353"/>
      </a:lt2>
      <a:accent1>
        <a:srgbClr val="04843D"/>
      </a:accent1>
      <a:accent2>
        <a:srgbClr val="81B761"/>
      </a:accent2>
      <a:accent3>
        <a:srgbClr val="F3B242"/>
      </a:accent3>
      <a:accent4>
        <a:srgbClr val="777877"/>
      </a:accent4>
      <a:accent5>
        <a:srgbClr val="B1B3B1"/>
      </a:accent5>
      <a:accent6>
        <a:srgbClr val="BAD6AD"/>
      </a:accent6>
      <a:hlink>
        <a:srgbClr val="0000FF"/>
      </a:hlink>
      <a:folHlink>
        <a:srgbClr val="FF00FF"/>
      </a:folHlink>
    </a:clrScheme>
    <a:fontScheme name="Benutzerdefiniertes Design">
      <a:majorFont>
        <a:latin typeface="Helvetica"/>
        <a:ea typeface="Helvetica"/>
        <a:cs typeface="Helvetica"/>
      </a:majorFont>
      <a:minorFont>
        <a:latin typeface="Gill Sans Light"/>
        <a:ea typeface="Gill Sans Light"/>
        <a:cs typeface="Gill Sans Light"/>
      </a:minorFont>
    </a:fontScheme>
    <a:fmtScheme name="Benutzerdefiniertes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50800" dist="25400" dir="5400000">
              <a:srgbClr val="000000">
                <a:alpha val="35000"/>
              </a:srgbClr>
            </a:outerShdw>
          </a:effectLst>
        </a:effectStyle>
        <a:effectStyle>
          <a:effectLst>
            <a:outerShdw sx="100000" sy="100000" kx="0" ky="0" algn="b" rotWithShape="0" blurRad="50800" dist="25400" dir="5400000">
              <a:srgbClr val="000000">
                <a:alpha val="35000"/>
              </a:srgbClr>
            </a:outerShdw>
          </a:effectLst>
        </a:effectStyle>
        <a:effectStyle>
          <a:effectLst>
            <a:outerShdw sx="100000" sy="100000" kx="0" ky="0" algn="b" rotWithShape="0" blurRad="50800" dist="254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50800" dist="25400" dir="5400000">
            <a:srgbClr val="000000">
              <a:alpha val="35000"/>
            </a:srgbClr>
          </a:outerShdw>
        </a:effectLst>
        <a:sp3d/>
      </a:spPr>
      <a:bodyPr rot="0" spcFirstLastPara="1" vertOverflow="overflow" horzOverflow="overflow" vert="horz" wrap="square" lIns="65023" tIns="65023" rIns="65023" bIns="65023" numCol="1" spcCol="38100" rtlCol="0" anchor="ctr" upright="0">
        <a:spAutoFit/>
      </a:bodyPr>
      <a:lstStyle>
        <a:defPPr marL="0" marR="0" indent="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50800" dist="254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65023" tIns="65023" rIns="65023" bIns="65023" numCol="1" spcCol="38100" rtlCol="0" anchor="t" upright="0">
        <a:spAutoFit/>
      </a:bodyPr>
      <a:lstStyle>
        <a:defPPr marL="0" marR="0" indent="0" algn="l" defTabSz="130048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